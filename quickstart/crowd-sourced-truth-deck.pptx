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74" r:id="rId3"/>
    <p:sldId id="257" r:id="rId4"/>
    <p:sldId id="258" r:id="rId5"/>
    <p:sldId id="277" r:id="rId6"/>
    <p:sldId id="269" r:id="rId7"/>
    <p:sldId id="278" r:id="rId8"/>
    <p:sldId id="260" r:id="rId9"/>
    <p:sldId id="280" r:id="rId10"/>
    <p:sldId id="279" r:id="rId11"/>
    <p:sldId id="259" r:id="rId12"/>
    <p:sldId id="281" r:id="rId13"/>
    <p:sldId id="265" r:id="rId14"/>
    <p:sldId id="266" r:id="rId15"/>
    <p:sldId id="267" r:id="rId16"/>
    <p:sldId id="268" r:id="rId17"/>
    <p:sldId id="261" r:id="rId18"/>
    <p:sldId id="273" r:id="rId19"/>
    <p:sldId id="272" r:id="rId20"/>
    <p:sldId id="276" r:id="rId21"/>
    <p:sldId id="275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A843"/>
    <a:srgbClr val="3AAFA9"/>
    <a:srgbClr val="C94040"/>
    <a:srgbClr val="1212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3F1D95-F220-4A3E-9A95-5818F1B0061C}" v="19" dt="2026-05-13T19:32:02.6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69983" autoAdjust="0"/>
  </p:normalViewPr>
  <p:slideViewPr>
    <p:cSldViewPr snapToGrid="0" snapToObjects="1">
      <p:cViewPr varScale="1">
        <p:scale>
          <a:sx n="116" d="100"/>
          <a:sy n="116" d="100"/>
        </p:scale>
        <p:origin x="7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Hogue" userId="36b83df3-da7f-4749-bcb9-6943116e8a49" providerId="ADAL" clId="{231C83DC-AF7A-4A67-AF3C-1BFE3EDBF912}"/>
    <pc:docChg chg="custSel modSld sldOrd">
      <pc:chgData name="John Hogue" userId="36b83df3-da7f-4749-bcb9-6943116e8a49" providerId="ADAL" clId="{231C83DC-AF7A-4A67-AF3C-1BFE3EDBF912}" dt="2026-05-13T23:11:15.870" v="330" actId="20577"/>
      <pc:docMkLst>
        <pc:docMk/>
      </pc:docMkLst>
      <pc:sldChg chg="addSp modSp mod">
        <pc:chgData name="John Hogue" userId="36b83df3-da7f-4749-bcb9-6943116e8a49" providerId="ADAL" clId="{231C83DC-AF7A-4A67-AF3C-1BFE3EDBF912}" dt="2026-05-13T19:35:32.574" v="329" actId="207"/>
        <pc:sldMkLst>
          <pc:docMk/>
          <pc:sldMk cId="0" sldId="256"/>
        </pc:sldMkLst>
        <pc:spChg chg="add mod">
          <ac:chgData name="John Hogue" userId="36b83df3-da7f-4749-bcb9-6943116e8a49" providerId="ADAL" clId="{231C83DC-AF7A-4A67-AF3C-1BFE3EDBF912}" dt="2026-05-11T21:16:24.924" v="58" actId="1076"/>
          <ac:spMkLst>
            <pc:docMk/>
            <pc:sldMk cId="0" sldId="256"/>
            <ac:spMk id="4" creationId="{6E81CF7F-4BC6-EC2B-ACF6-F04854ABD372}"/>
          </ac:spMkLst>
        </pc:spChg>
        <pc:spChg chg="mod ord">
          <ac:chgData name="John Hogue" userId="36b83df3-da7f-4749-bcb9-6943116e8a49" providerId="ADAL" clId="{231C83DC-AF7A-4A67-AF3C-1BFE3EDBF912}" dt="2026-05-13T19:35:32.574" v="329" actId="207"/>
          <ac:spMkLst>
            <pc:docMk/>
            <pc:sldMk cId="0" sldId="256"/>
            <ac:spMk id="6" creationId="{00000000-0000-0000-0000-000000000000}"/>
          </ac:spMkLst>
        </pc:spChg>
        <pc:picChg chg="add mod">
          <ac:chgData name="John Hogue" userId="36b83df3-da7f-4749-bcb9-6943116e8a49" providerId="ADAL" clId="{231C83DC-AF7A-4A67-AF3C-1BFE3EDBF912}" dt="2026-05-11T21:16:16.523" v="56" actId="1076"/>
          <ac:picMkLst>
            <pc:docMk/>
            <pc:sldMk cId="0" sldId="256"/>
            <ac:picMk id="3" creationId="{E5A283E8-1439-0ACD-0220-3555311DEF48}"/>
          </ac:picMkLst>
        </pc:picChg>
      </pc:sldChg>
      <pc:sldChg chg="delSp mod">
        <pc:chgData name="John Hogue" userId="36b83df3-da7f-4749-bcb9-6943116e8a49" providerId="ADAL" clId="{231C83DC-AF7A-4A67-AF3C-1BFE3EDBF912}" dt="2026-05-13T18:46:21.416" v="144" actId="478"/>
        <pc:sldMkLst>
          <pc:docMk/>
          <pc:sldMk cId="0" sldId="257"/>
        </pc:sldMkLst>
        <pc:spChg chg="del">
          <ac:chgData name="John Hogue" userId="36b83df3-da7f-4749-bcb9-6943116e8a49" providerId="ADAL" clId="{231C83DC-AF7A-4A67-AF3C-1BFE3EDBF912}" dt="2026-05-13T18:46:21.416" v="144" actId="478"/>
          <ac:spMkLst>
            <pc:docMk/>
            <pc:sldMk cId="0" sldId="257"/>
            <ac:spMk id="2" creationId="{00000000-0000-0000-0000-000000000000}"/>
          </ac:spMkLst>
        </pc:spChg>
      </pc:sldChg>
      <pc:sldChg chg="delSp mod">
        <pc:chgData name="John Hogue" userId="36b83df3-da7f-4749-bcb9-6943116e8a49" providerId="ADAL" clId="{231C83DC-AF7A-4A67-AF3C-1BFE3EDBF912}" dt="2026-05-13T18:46:24.158" v="145" actId="478"/>
        <pc:sldMkLst>
          <pc:docMk/>
          <pc:sldMk cId="0" sldId="258"/>
        </pc:sldMkLst>
        <pc:spChg chg="del">
          <ac:chgData name="John Hogue" userId="36b83df3-da7f-4749-bcb9-6943116e8a49" providerId="ADAL" clId="{231C83DC-AF7A-4A67-AF3C-1BFE3EDBF912}" dt="2026-05-13T18:46:24.158" v="145" actId="478"/>
          <ac:spMkLst>
            <pc:docMk/>
            <pc:sldMk cId="0" sldId="258"/>
            <ac:spMk id="2" creationId="{00000000-0000-0000-0000-000000000000}"/>
          </ac:spMkLst>
        </pc:spChg>
      </pc:sldChg>
      <pc:sldChg chg="delSp mod delAnim">
        <pc:chgData name="John Hogue" userId="36b83df3-da7f-4749-bcb9-6943116e8a49" providerId="ADAL" clId="{231C83DC-AF7A-4A67-AF3C-1BFE3EDBF912}" dt="2026-05-13T19:32:57.541" v="314" actId="478"/>
        <pc:sldMkLst>
          <pc:docMk/>
          <pc:sldMk cId="0" sldId="259"/>
        </pc:sldMkLst>
        <pc:spChg chg="del">
          <ac:chgData name="John Hogue" userId="36b83df3-da7f-4749-bcb9-6943116e8a49" providerId="ADAL" clId="{231C83DC-AF7A-4A67-AF3C-1BFE3EDBF912}" dt="2026-05-13T19:32:57.541" v="314" actId="478"/>
          <ac:spMkLst>
            <pc:docMk/>
            <pc:sldMk cId="0" sldId="259"/>
            <ac:spMk id="46" creationId="{00000000-0000-0000-0000-000000000000}"/>
          </ac:spMkLst>
        </pc:spChg>
        <pc:spChg chg="del">
          <ac:chgData name="John Hogue" userId="36b83df3-da7f-4749-bcb9-6943116e8a49" providerId="ADAL" clId="{231C83DC-AF7A-4A67-AF3C-1BFE3EDBF912}" dt="2026-05-13T18:46:45.345" v="152" actId="478"/>
          <ac:spMkLst>
            <pc:docMk/>
            <pc:sldMk cId="0" sldId="259"/>
            <ac:spMk id="47" creationId="{00000000-0000-0000-0000-000000000000}"/>
          </ac:spMkLst>
        </pc:spChg>
      </pc:sldChg>
      <pc:sldChg chg="delSp modSp mod">
        <pc:chgData name="John Hogue" userId="36b83df3-da7f-4749-bcb9-6943116e8a49" providerId="ADAL" clId="{231C83DC-AF7A-4A67-AF3C-1BFE3EDBF912}" dt="2026-05-13T18:46:35.370" v="149" actId="478"/>
        <pc:sldMkLst>
          <pc:docMk/>
          <pc:sldMk cId="0" sldId="260"/>
        </pc:sldMkLst>
        <pc:spChg chg="del mod">
          <ac:chgData name="John Hogue" userId="36b83df3-da7f-4749-bcb9-6943116e8a49" providerId="ADAL" clId="{231C83DC-AF7A-4A67-AF3C-1BFE3EDBF912}" dt="2026-05-13T18:46:35.370" v="149" actId="478"/>
          <ac:spMkLst>
            <pc:docMk/>
            <pc:sldMk cId="0" sldId="260"/>
            <ac:spMk id="2" creationId="{00000000-0000-0000-0000-000000000000}"/>
          </ac:spMkLst>
        </pc:spChg>
      </pc:sldChg>
      <pc:sldChg chg="delSp mod modNotesTx">
        <pc:chgData name="John Hogue" userId="36b83df3-da7f-4749-bcb9-6943116e8a49" providerId="ADAL" clId="{231C83DC-AF7A-4A67-AF3C-1BFE3EDBF912}" dt="2026-05-13T19:32:04.592" v="310" actId="20577"/>
        <pc:sldMkLst>
          <pc:docMk/>
          <pc:sldMk cId="0" sldId="261"/>
        </pc:sldMkLst>
        <pc:spChg chg="del">
          <ac:chgData name="John Hogue" userId="36b83df3-da7f-4749-bcb9-6943116e8a49" providerId="ADAL" clId="{231C83DC-AF7A-4A67-AF3C-1BFE3EDBF912}" dt="2026-05-13T18:47:05.483" v="158" actId="478"/>
          <ac:spMkLst>
            <pc:docMk/>
            <pc:sldMk cId="0" sldId="261"/>
            <ac:spMk id="17" creationId="{00000000-0000-0000-0000-000000000000}"/>
          </ac:spMkLst>
        </pc:spChg>
      </pc:sldChg>
      <pc:sldChg chg="delSp mod modNotesTx">
        <pc:chgData name="John Hogue" userId="36b83df3-da7f-4749-bcb9-6943116e8a49" providerId="ADAL" clId="{231C83DC-AF7A-4A67-AF3C-1BFE3EDBF912}" dt="2026-05-13T19:32:43.190" v="313" actId="20577"/>
        <pc:sldMkLst>
          <pc:docMk/>
          <pc:sldMk cId="0" sldId="265"/>
        </pc:sldMkLst>
        <pc:spChg chg="del">
          <ac:chgData name="John Hogue" userId="36b83df3-da7f-4749-bcb9-6943116e8a49" providerId="ADAL" clId="{231C83DC-AF7A-4A67-AF3C-1BFE3EDBF912}" dt="2026-05-13T18:46:52.296" v="154" actId="478"/>
          <ac:spMkLst>
            <pc:docMk/>
            <pc:sldMk cId="0" sldId="265"/>
            <ac:spMk id="2" creationId="{00000000-0000-0000-0000-000000000000}"/>
          </ac:spMkLst>
        </pc:spChg>
      </pc:sldChg>
      <pc:sldChg chg="delSp mod modNotesTx">
        <pc:chgData name="John Hogue" userId="36b83df3-da7f-4749-bcb9-6943116e8a49" providerId="ADAL" clId="{231C83DC-AF7A-4A67-AF3C-1BFE3EDBF912}" dt="2026-05-13T19:32:30.357" v="312" actId="20577"/>
        <pc:sldMkLst>
          <pc:docMk/>
          <pc:sldMk cId="0" sldId="266"/>
        </pc:sldMkLst>
        <pc:spChg chg="del">
          <ac:chgData name="John Hogue" userId="36b83df3-da7f-4749-bcb9-6943116e8a49" providerId="ADAL" clId="{231C83DC-AF7A-4A67-AF3C-1BFE3EDBF912}" dt="2026-05-13T18:46:56.065" v="155" actId="478"/>
          <ac:spMkLst>
            <pc:docMk/>
            <pc:sldMk cId="0" sldId="266"/>
            <ac:spMk id="2" creationId="{00000000-0000-0000-0000-000000000000}"/>
          </ac:spMkLst>
        </pc:spChg>
      </pc:sldChg>
      <pc:sldChg chg="delSp mod modNotesTx">
        <pc:chgData name="John Hogue" userId="36b83df3-da7f-4749-bcb9-6943116e8a49" providerId="ADAL" clId="{231C83DC-AF7A-4A67-AF3C-1BFE3EDBF912}" dt="2026-05-13T23:11:15.870" v="330" actId="20577"/>
        <pc:sldMkLst>
          <pc:docMk/>
          <pc:sldMk cId="0" sldId="267"/>
        </pc:sldMkLst>
        <pc:spChg chg="del">
          <ac:chgData name="John Hogue" userId="36b83df3-da7f-4749-bcb9-6943116e8a49" providerId="ADAL" clId="{231C83DC-AF7A-4A67-AF3C-1BFE3EDBF912}" dt="2026-05-13T18:46:59.152" v="156" actId="478"/>
          <ac:spMkLst>
            <pc:docMk/>
            <pc:sldMk cId="0" sldId="267"/>
            <ac:spMk id="2" creationId="{00000000-0000-0000-0000-000000000000}"/>
          </ac:spMkLst>
        </pc:spChg>
      </pc:sldChg>
      <pc:sldChg chg="delSp mod modNotesTx">
        <pc:chgData name="John Hogue" userId="36b83df3-da7f-4749-bcb9-6943116e8a49" providerId="ADAL" clId="{231C83DC-AF7A-4A67-AF3C-1BFE3EDBF912}" dt="2026-05-13T19:35:02.079" v="328" actId="20577"/>
        <pc:sldMkLst>
          <pc:docMk/>
          <pc:sldMk cId="0" sldId="268"/>
        </pc:sldMkLst>
        <pc:spChg chg="del">
          <ac:chgData name="John Hogue" userId="36b83df3-da7f-4749-bcb9-6943116e8a49" providerId="ADAL" clId="{231C83DC-AF7A-4A67-AF3C-1BFE3EDBF912}" dt="2026-05-13T18:47:02.168" v="157" actId="478"/>
          <ac:spMkLst>
            <pc:docMk/>
            <pc:sldMk cId="0" sldId="268"/>
            <ac:spMk id="2" creationId="{00000000-0000-0000-0000-000000000000}"/>
          </ac:spMkLst>
        </pc:spChg>
      </pc:sldChg>
      <pc:sldChg chg="addSp delSp modSp mod modNotesTx">
        <pc:chgData name="John Hogue" userId="36b83df3-da7f-4749-bcb9-6943116e8a49" providerId="ADAL" clId="{231C83DC-AF7A-4A67-AF3C-1BFE3EDBF912}" dt="2026-05-13T18:53:42.052" v="180" actId="1035"/>
        <pc:sldMkLst>
          <pc:docMk/>
          <pc:sldMk cId="0" sldId="269"/>
        </pc:sldMkLst>
        <pc:spChg chg="del mod">
          <ac:chgData name="John Hogue" userId="36b83df3-da7f-4749-bcb9-6943116e8a49" providerId="ADAL" clId="{231C83DC-AF7A-4A67-AF3C-1BFE3EDBF912}" dt="2026-05-13T18:46:29.698" v="147" actId="478"/>
          <ac:spMkLst>
            <pc:docMk/>
            <pc:sldMk cId="0" sldId="269"/>
            <ac:spMk id="2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3T18:53:42.052" v="180" actId="1035"/>
          <ac:spMkLst>
            <pc:docMk/>
            <pc:sldMk cId="0" sldId="269"/>
            <ac:spMk id="9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3T18:53:42.052" v="180" actId="1035"/>
          <ac:spMkLst>
            <pc:docMk/>
            <pc:sldMk cId="0" sldId="269"/>
            <ac:spMk id="10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3T18:53:42.052" v="180" actId="1035"/>
          <ac:spMkLst>
            <pc:docMk/>
            <pc:sldMk cId="0" sldId="269"/>
            <ac:spMk id="11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3T18:53:42.052" v="180" actId="1035"/>
          <ac:spMkLst>
            <pc:docMk/>
            <pc:sldMk cId="0" sldId="269"/>
            <ac:spMk id="12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3T18:53:42.052" v="180" actId="1035"/>
          <ac:spMkLst>
            <pc:docMk/>
            <pc:sldMk cId="0" sldId="269"/>
            <ac:spMk id="13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3T18:53:42.052" v="180" actId="1035"/>
          <ac:spMkLst>
            <pc:docMk/>
            <pc:sldMk cId="0" sldId="269"/>
            <ac:spMk id="14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3T18:53:42.052" v="180" actId="1035"/>
          <ac:spMkLst>
            <pc:docMk/>
            <pc:sldMk cId="0" sldId="269"/>
            <ac:spMk id="15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3T18:53:42.052" v="180" actId="1035"/>
          <ac:spMkLst>
            <pc:docMk/>
            <pc:sldMk cId="0" sldId="269"/>
            <ac:spMk id="16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3T18:53:42.052" v="180" actId="1035"/>
          <ac:spMkLst>
            <pc:docMk/>
            <pc:sldMk cId="0" sldId="269"/>
            <ac:spMk id="17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3T18:53:42.052" v="180" actId="1035"/>
          <ac:spMkLst>
            <pc:docMk/>
            <pc:sldMk cId="0" sldId="269"/>
            <ac:spMk id="18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2T15:27:16.968" v="88" actId="1035"/>
          <ac:spMkLst>
            <pc:docMk/>
            <pc:sldMk cId="0" sldId="269"/>
            <ac:spMk id="20" creationId="{00000000-0000-0000-0000-000000000000}"/>
          </ac:spMkLst>
        </pc:spChg>
        <pc:spChg chg="add del mod">
          <ac:chgData name="John Hogue" userId="36b83df3-da7f-4749-bcb9-6943116e8a49" providerId="ADAL" clId="{231C83DC-AF7A-4A67-AF3C-1BFE3EDBF912}" dt="2026-05-13T18:53:31.880" v="160" actId="478"/>
          <ac:spMkLst>
            <pc:docMk/>
            <pc:sldMk cId="0" sldId="269"/>
            <ac:spMk id="21" creationId="{5A1009FF-5F40-E3DB-AB12-392F0B1AFDB1}"/>
          </ac:spMkLst>
        </pc:spChg>
        <pc:spChg chg="add del mod">
          <ac:chgData name="John Hogue" userId="36b83df3-da7f-4749-bcb9-6943116e8a49" providerId="ADAL" clId="{231C83DC-AF7A-4A67-AF3C-1BFE3EDBF912}" dt="2026-05-13T18:53:31.880" v="160" actId="478"/>
          <ac:spMkLst>
            <pc:docMk/>
            <pc:sldMk cId="0" sldId="269"/>
            <ac:spMk id="23" creationId="{F605FBCB-EDC9-A0EC-526F-627E5BC3BD34}"/>
          </ac:spMkLst>
        </pc:spChg>
        <pc:spChg chg="add del mod">
          <ac:chgData name="John Hogue" userId="36b83df3-da7f-4749-bcb9-6943116e8a49" providerId="ADAL" clId="{231C83DC-AF7A-4A67-AF3C-1BFE3EDBF912}" dt="2026-05-13T18:53:31.880" v="160" actId="478"/>
          <ac:spMkLst>
            <pc:docMk/>
            <pc:sldMk cId="0" sldId="269"/>
            <ac:spMk id="24" creationId="{42A21A0B-7941-9AD7-F27A-22B6E1A06151}"/>
          </ac:spMkLst>
        </pc:spChg>
      </pc:sldChg>
      <pc:sldChg chg="delSp mod ord modNotesTx">
        <pc:chgData name="John Hogue" userId="36b83df3-da7f-4749-bcb9-6943116e8a49" providerId="ADAL" clId="{231C83DC-AF7A-4A67-AF3C-1BFE3EDBF912}" dt="2026-05-13T19:31:38.939" v="305" actId="20577"/>
        <pc:sldMkLst>
          <pc:docMk/>
          <pc:sldMk cId="0" sldId="272"/>
        </pc:sldMkLst>
        <pc:spChg chg="del">
          <ac:chgData name="John Hogue" userId="36b83df3-da7f-4749-bcb9-6943116e8a49" providerId="ADAL" clId="{231C83DC-AF7A-4A67-AF3C-1BFE3EDBF912}" dt="2026-05-13T18:47:08.603" v="159" actId="478"/>
          <ac:spMkLst>
            <pc:docMk/>
            <pc:sldMk cId="0" sldId="272"/>
            <ac:spMk id="2" creationId="{00000000-0000-0000-0000-000000000000}"/>
          </ac:spMkLst>
        </pc:spChg>
      </pc:sldChg>
      <pc:sldChg chg="addSp delSp modSp mod">
        <pc:chgData name="John Hogue" userId="36b83df3-da7f-4749-bcb9-6943116e8a49" providerId="ADAL" clId="{231C83DC-AF7A-4A67-AF3C-1BFE3EDBF912}" dt="2026-05-13T18:46:27.110" v="146" actId="478"/>
        <pc:sldMkLst>
          <pc:docMk/>
          <pc:sldMk cId="0" sldId="277"/>
        </pc:sldMkLst>
        <pc:spChg chg="add del mod">
          <ac:chgData name="John Hogue" userId="36b83df3-da7f-4749-bcb9-6943116e8a49" providerId="ADAL" clId="{231C83DC-AF7A-4A67-AF3C-1BFE3EDBF912}" dt="2026-05-13T18:46:27.110" v="146" actId="478"/>
          <ac:spMkLst>
            <pc:docMk/>
            <pc:sldMk cId="0" sldId="277"/>
            <ac:spMk id="3" creationId="{1FF7EACE-88D3-B122-C767-B0B8494C6D1A}"/>
          </ac:spMkLst>
        </pc:spChg>
      </pc:sldChg>
      <pc:sldChg chg="delSp modSp mod modNotesTx">
        <pc:chgData name="John Hogue" userId="36b83df3-da7f-4749-bcb9-6943116e8a49" providerId="ADAL" clId="{231C83DC-AF7A-4A67-AF3C-1BFE3EDBF912}" dt="2026-05-13T19:33:40.545" v="321" actId="20577"/>
        <pc:sldMkLst>
          <pc:docMk/>
          <pc:sldMk cId="0" sldId="278"/>
        </pc:sldMkLst>
        <pc:spChg chg="del mod">
          <ac:chgData name="John Hogue" userId="36b83df3-da7f-4749-bcb9-6943116e8a49" providerId="ADAL" clId="{231C83DC-AF7A-4A67-AF3C-1BFE3EDBF912}" dt="2026-05-13T18:46:32.686" v="148" actId="478"/>
          <ac:spMkLst>
            <pc:docMk/>
            <pc:sldMk cId="0" sldId="278"/>
            <ac:spMk id="24" creationId="{00000000-0000-0000-0000-000000000000}"/>
          </ac:spMkLst>
        </pc:spChg>
      </pc:sldChg>
      <pc:sldChg chg="delSp modSp mod delAnim">
        <pc:chgData name="John Hogue" userId="36b83df3-da7f-4749-bcb9-6943116e8a49" providerId="ADAL" clId="{231C83DC-AF7A-4A67-AF3C-1BFE3EDBF912}" dt="2026-05-13T19:33:02.794" v="315" actId="478"/>
        <pc:sldMkLst>
          <pc:docMk/>
          <pc:sldMk cId="0" sldId="279"/>
        </pc:sldMkLst>
        <pc:spChg chg="del">
          <ac:chgData name="John Hogue" userId="36b83df3-da7f-4749-bcb9-6943116e8a49" providerId="ADAL" clId="{231C83DC-AF7A-4A67-AF3C-1BFE3EDBF912}" dt="2026-05-13T19:33:02.794" v="315" actId="478"/>
          <ac:spMkLst>
            <pc:docMk/>
            <pc:sldMk cId="0" sldId="279"/>
            <ac:spMk id="34" creationId="{00000000-0000-0000-0000-000000000000}"/>
          </ac:spMkLst>
        </pc:spChg>
        <pc:spChg chg="del mod">
          <ac:chgData name="John Hogue" userId="36b83df3-da7f-4749-bcb9-6943116e8a49" providerId="ADAL" clId="{231C83DC-AF7A-4A67-AF3C-1BFE3EDBF912}" dt="2026-05-13T18:46:42.309" v="151" actId="478"/>
          <ac:spMkLst>
            <pc:docMk/>
            <pc:sldMk cId="0" sldId="279"/>
            <ac:spMk id="35" creationId="{00000000-0000-0000-0000-000000000000}"/>
          </ac:spMkLst>
        </pc:spChg>
      </pc:sldChg>
      <pc:sldChg chg="delSp modSp mod">
        <pc:chgData name="John Hogue" userId="36b83df3-da7f-4749-bcb9-6943116e8a49" providerId="ADAL" clId="{231C83DC-AF7A-4A67-AF3C-1BFE3EDBF912}" dt="2026-05-13T18:46:39.085" v="150" actId="478"/>
        <pc:sldMkLst>
          <pc:docMk/>
          <pc:sldMk cId="0" sldId="280"/>
        </pc:sldMkLst>
        <pc:spChg chg="del mod">
          <ac:chgData name="John Hogue" userId="36b83df3-da7f-4749-bcb9-6943116e8a49" providerId="ADAL" clId="{231C83DC-AF7A-4A67-AF3C-1BFE3EDBF912}" dt="2026-05-13T18:46:39.085" v="150" actId="478"/>
          <ac:spMkLst>
            <pc:docMk/>
            <pc:sldMk cId="0" sldId="280"/>
            <ac:spMk id="28" creationId="{00000000-0000-0000-0000-000000000000}"/>
          </ac:spMkLst>
        </pc:spChg>
      </pc:sldChg>
      <pc:sldChg chg="delSp mod">
        <pc:chgData name="John Hogue" userId="36b83df3-da7f-4749-bcb9-6943116e8a49" providerId="ADAL" clId="{231C83DC-AF7A-4A67-AF3C-1BFE3EDBF912}" dt="2026-05-13T18:46:49.094" v="153" actId="478"/>
        <pc:sldMkLst>
          <pc:docMk/>
          <pc:sldMk cId="0" sldId="281"/>
        </pc:sldMkLst>
        <pc:spChg chg="del">
          <ac:chgData name="John Hogue" userId="36b83df3-da7f-4749-bcb9-6943116e8a49" providerId="ADAL" clId="{231C83DC-AF7A-4A67-AF3C-1BFE3EDBF912}" dt="2026-05-13T18:46:49.094" v="153" actId="478"/>
          <ac:spMkLst>
            <pc:docMk/>
            <pc:sldMk cId="0" sldId="281"/>
            <ac:spMk id="2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2457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</a:t>
            </a:r>
          </a:p>
          <a:p>
            <a:r>
              <a:rPr lang="en-US" dirty="0"/>
              <a:t>skill-based volunteering</a:t>
            </a:r>
          </a:p>
          <a:p>
            <a:r>
              <a:rPr lang="en-US" dirty="0"/>
              <a:t>'things I wish I knew' — practitioner, not academic</a:t>
            </a:r>
          </a:p>
          <a:p>
            <a:r>
              <a:rPr lang="en-US" dirty="0"/>
              <a:t>Won’t be talking specifics of recent events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7623F-ECF4-5AEF-47E2-EA1DD2CE5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F5B31B-4FBC-10B5-0496-4E98363530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3275D0-7DA4-F69A-D099-8CC77B126D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when the official story doesn't match the ground truth...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0DED83-EC0E-BE16-C495-6415BD3094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922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But </a:t>
            </a:r>
            <a:r>
              <a:rPr lang="en-US" dirty="0"/>
              <a:t>these efforts don't just happen. Every one lives or dies on three things.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You </a:t>
            </a:r>
            <a:r>
              <a:rPr lang="en-US" dirty="0"/>
              <a:t>already know how to think about tensions like this. You've been doing it your whole career.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what happens if you just jump in?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not cautionary tales from somewhere else. Similar things are happening right here, right now. </a:t>
            </a:r>
          </a:p>
          <a:p>
            <a:endParaRPr lang="en-US" b="1" dirty="0"/>
          </a:p>
          <a:p>
            <a:r>
              <a:rPr lang="en-US" b="1" dirty="0"/>
              <a:t>None </a:t>
            </a:r>
            <a:r>
              <a:rPr lang="en-US" dirty="0"/>
              <a:t>of these had a clean answer. They were all trade-offs someone got wrong.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Data is not the point, people are.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So you want to do it right, start with asking…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You've decided to help. Now what question are you actually trying to answer?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even with the right question, how do you collect from people who can't identify themselves?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...Even if your contributors are trustworthy, your dataset may still lie to you.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that's all before someone is actively trying to break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how do you protect the people feeding that pipeline?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Signal with disappearing messages is the baseline, not the ceiling</a:t>
            </a:r>
          </a:p>
          <a:p>
            <a:endParaRPr lang="en-US" dirty="0"/>
          </a:p>
          <a:p>
            <a:r>
              <a:rPr lang="en-US" dirty="0"/>
              <a:t>Even if you do all of that, one thing will still catch you off guard. The mosaic effect.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where does the data actually live?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protected it for whom? Who does this data actually belong to?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Once </a:t>
            </a:r>
            <a:r>
              <a:rPr lang="en-US" dirty="0"/>
              <a:t>you release it, it cannot be unreleased. Get these right before you publish.</a:t>
            </a:r>
          </a:p>
          <a:p>
            <a:endParaRPr lang="en-US" dirty="0"/>
          </a:p>
          <a:p>
            <a:r>
              <a:rPr lang="en-US" dirty="0"/>
              <a:t>Eventually, every effort ends. The question is whether it ends on your terms.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Don’t be the last person standing. </a:t>
            </a:r>
          </a:p>
          <a:p>
            <a:endParaRPr lang="en-US" b="1" dirty="0"/>
          </a:p>
          <a:p>
            <a:r>
              <a:rPr lang="en-US" dirty="0"/>
              <a:t>The efforts that survive aren't run by heroes. They're run by people who made themselves replaceable on purpose.</a:t>
            </a:r>
            <a:endParaRPr lang="en-US" b="1" dirty="0"/>
          </a:p>
          <a:p>
            <a:endParaRPr lang="en-US" b="1" dirty="0"/>
          </a:p>
          <a:p>
            <a:r>
              <a:rPr lang="en-US" b="1" dirty="0"/>
              <a:t>Planning your work around Speed, Safety and Resiliency matter, but there will always be trade offs.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of these efforts don't fail for lack of passion. They fail for lack of exactly the skills you used at work this week.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There is no right answer. These are constraints for you to set. That's the job.</a:t>
            </a:r>
            <a:br>
              <a:rPr lang="en-US" dirty="0"/>
            </a:br>
            <a:endParaRPr lang="en-US" dirty="0"/>
          </a:p>
          <a:p>
            <a:r>
              <a:rPr lang="en-US" dirty="0"/>
              <a:t>I'll leave you with one last thought.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usi.org/explore-our-research/publications/commentary/puzzling-pieces-osint-and-war-crime-accountability-ukraine" TargetMode="External"/><Relationship Id="rId3" Type="http://schemas.openxmlformats.org/officeDocument/2006/relationships/image" Target="../media/image17.png"/><Relationship Id="rId7" Type="http://schemas.openxmlformats.org/officeDocument/2006/relationships/hyperlink" Target="https://tavaana.org/en/en/content/ushahidi-crisis-mapping-kenya-mapping-globe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blogs.icrc.org/law-and-policy/2021/02/09/mosaic-effect-revelation-risks/" TargetMode="External"/><Relationship Id="rId11" Type="http://schemas.openxmlformats.org/officeDocument/2006/relationships/hyperlink" Target="https://safecast.org/" TargetMode="External"/><Relationship Id="rId5" Type="http://schemas.openxmlformats.org/officeDocument/2006/relationships/hyperlink" Target="https://datascience.codata.org/articles/dsj-2020-043" TargetMode="External"/><Relationship Id="rId10" Type="http://schemas.openxmlformats.org/officeDocument/2006/relationships/hyperlink" Target="https://mnemonic.org/" TargetMode="External"/><Relationship Id="rId4" Type="http://schemas.openxmlformats.org/officeDocument/2006/relationships/hyperlink" Target="https://www.ohchr.org/en/publications/policy-and-methodological-publications/berkeley-protocol-digital-open-source" TargetMode="External"/><Relationship Id="rId9" Type="http://schemas.openxmlformats.org/officeDocument/2006/relationships/hyperlink" Target="https://www.hrw.org/report/2020/09/10/video-unavailable/social-media-platforms-remove-evidence-war-crimes" TargetMode="Externa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bellingcat.gitbook.io/toolkit" TargetMode="External"/><Relationship Id="rId3" Type="http://schemas.openxmlformats.org/officeDocument/2006/relationships/image" Target="../media/image18.png"/><Relationship Id="rId7" Type="http://schemas.openxmlformats.org/officeDocument/2006/relationships/hyperlink" Target="https://www.usenix.org/conference/usenixsecurity21/presentation/albrecht" TargetMode="External"/><Relationship Id="rId12" Type="http://schemas.openxmlformats.org/officeDocument/2006/relationships/hyperlink" Target="https://ssd.eff.org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sciencedirect.com/science/article/abs/pii/S0198971520302477" TargetMode="External"/><Relationship Id="rId11" Type="http://schemas.openxmlformats.org/officeDocument/2006/relationships/hyperlink" Target="https://securedrop.org/" TargetMode="External"/><Relationship Id="rId5" Type="http://schemas.openxmlformats.org/officeDocument/2006/relationships/hyperlink" Target="https://link.springer.com/chapter/10.1007/978-3-030-49669-2_18" TargetMode="External"/><Relationship Id="rId10" Type="http://schemas.openxmlformats.org/officeDocument/2006/relationships/hyperlink" Target="https://github.com/ushahidi" TargetMode="External"/><Relationship Id="rId4" Type="http://schemas.openxmlformats.org/officeDocument/2006/relationships/hyperlink" Target="https://medium.com/@katestarbird" TargetMode="External"/><Relationship Id="rId9" Type="http://schemas.openxmlformats.org/officeDocument/2006/relationships/hyperlink" Target="https://github.com/jivoi/awesome-osin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Picture 6" descr="logo-banner.png">
            <a:extLst>
              <a:ext uri="{FF2B5EF4-FFF2-40B4-BE49-F238E27FC236}">
                <a16:creationId xmlns:a16="http://schemas.microsoft.com/office/drawing/2014/main" id="{E0583DC7-02CA-0A11-6EEB-5AFA3686C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947292"/>
            <a:ext cx="9143999" cy="2286000"/>
          </a:xfrm>
          <a:prstGeom prst="rect">
            <a:avLst/>
          </a:prstGeom>
        </p:spPr>
      </p:pic>
      <p:pic>
        <p:nvPicPr>
          <p:cNvPr id="3" name="Picture 2" descr="QR Code Image">
            <a:extLst>
              <a:ext uri="{FF2B5EF4-FFF2-40B4-BE49-F238E27FC236}">
                <a16:creationId xmlns:a16="http://schemas.microsoft.com/office/drawing/2014/main" id="{E5A283E8-1439-0ACD-0220-3555311DEF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9069" y="3817620"/>
            <a:ext cx="922020" cy="922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6E81CF7F-4BC6-EC2B-ACF6-F04854ABD372}"/>
              </a:ext>
            </a:extLst>
          </p:cNvPr>
          <p:cNvSpPr/>
          <p:nvPr/>
        </p:nvSpPr>
        <p:spPr>
          <a:xfrm>
            <a:off x="7555229" y="4823460"/>
            <a:ext cx="1409699" cy="238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8E8EC"/>
                </a:solidFill>
                <a:latin typeface="Georgia" pitchFamily="34" charset="0"/>
              </a:rPr>
              <a:t>Presentation + Materials</a:t>
            </a:r>
            <a:endParaRPr lang="en-US" sz="1000" i="1" dirty="0"/>
          </a:p>
        </p:txBody>
      </p:sp>
      <p:sp>
        <p:nvSpPr>
          <p:cNvPr id="6" name="Text 4"/>
          <p:cNvSpPr/>
          <p:nvPr/>
        </p:nvSpPr>
        <p:spPr>
          <a:xfrm>
            <a:off x="4110990" y="4496004"/>
            <a:ext cx="922021" cy="445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Hogue</a:t>
            </a:r>
          </a:p>
          <a:p>
            <a:pPr marL="0" indent="0" algn="ctr">
              <a:buNone/>
            </a:pPr>
            <a:r>
              <a:rPr lang="en-US" sz="12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849297-F013-673D-E63B-9AF23B38F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908AB0D-153A-BDA7-FE68-49D7DF735FE4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C7CF442-B12E-B659-C478-36ECDD7ABFAB}"/>
              </a:ext>
            </a:extLst>
          </p:cNvPr>
          <p:cNvSpPr/>
          <p:nvPr/>
        </p:nvSpPr>
        <p:spPr>
          <a:xfrm>
            <a:off x="731520" y="54864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800" i="1" dirty="0">
                <a:solidFill>
                  <a:srgbClr val="F0C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distance between what is said</a:t>
            </a:r>
            <a:endParaRPr lang="en-US" sz="2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800" i="1" dirty="0">
                <a:solidFill>
                  <a:srgbClr val="F0C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what is known to be true</a:t>
            </a:r>
            <a:endParaRPr lang="en-US" sz="2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800" i="1" dirty="0">
                <a:solidFill>
                  <a:srgbClr val="F0C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 become an abyss."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33E75A0-73FB-83AA-B0DE-2DCC3C43AD13}"/>
              </a:ext>
            </a:extLst>
          </p:cNvPr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b="1" i="1" dirty="0">
                <a:solidFill>
                  <a:srgbClr val="8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the things at risk, the loss of an objective reality</a:t>
            </a:r>
            <a:endParaRPr lang="en-US" sz="1600" b="1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b="1" i="1" dirty="0">
                <a:solidFill>
                  <a:srgbClr val="8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perhaps the most dangerous.</a:t>
            </a:r>
            <a:endParaRPr lang="en-US" sz="1600" b="1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1B2E01E-020A-B6E8-D153-4950EA33AAEA}"/>
              </a:ext>
            </a:extLst>
          </p:cNvPr>
          <p:cNvSpPr/>
          <p:nvPr/>
        </p:nvSpPr>
        <p:spPr>
          <a:xfrm>
            <a:off x="3657600" y="3566160"/>
            <a:ext cx="1828800" cy="18288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FF6B013-6225-88F4-0704-025B2A41C791}"/>
              </a:ext>
            </a:extLst>
          </p:cNvPr>
          <p:cNvSpPr/>
          <p:nvPr/>
        </p:nvSpPr>
        <p:spPr>
          <a:xfrm>
            <a:off x="2743200" y="3703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Mothma - Andor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16573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E8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The Official Story Doesn't Match The Ground Truth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886200" y="1357029"/>
            <a:ext cx="1371600" cy="2743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Communities have been building their own evidence base for two decades. The pattern is consistent: when institutions fail to document what's happening, ordinary people step in.</a:t>
            </a:r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solidFill>
            <a:srgbClr val="1E1E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5603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468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2008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337560" y="24688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45,000 SMS reports of election violence mapped in 6 days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1520" y="3108960"/>
            <a:ext cx="7680960" cy="548640"/>
          </a:xfrm>
          <a:prstGeom prst="rect">
            <a:avLst/>
          </a:prstGeom>
          <a:solidFill>
            <a:srgbClr val="1E1E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2004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3108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Fukushima 2011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337560" y="310588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150M+ citizen radiation readings vs. single government averages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31520" y="3749040"/>
            <a:ext cx="7680960" cy="548640"/>
          </a:xfrm>
          <a:prstGeom prst="rect">
            <a:avLst/>
          </a:prstGeom>
          <a:solidFill>
            <a:srgbClr val="1E1E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8404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749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Syria 2012-present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3337560" y="37490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650K+ videos preserved after YouTube deleted 200K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731520" y="4389120"/>
            <a:ext cx="7680960" cy="548640"/>
          </a:xfrm>
          <a:prstGeom prst="rect">
            <a:avLst/>
          </a:prstGeom>
          <a:solidFill>
            <a:srgbClr val="1E1E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48056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1600" y="4389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Ukraine 2022-present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3337560" y="43891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6.9M+ videos archived; invasion detected via Google Maps traffic</a:t>
            </a:r>
            <a:endParaRPr 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6F0AFF-C810-9F2F-1E3F-5B1B86130BE9}"/>
              </a:ext>
            </a:extLst>
          </p:cNvPr>
          <p:cNvSpPr txBox="1"/>
          <p:nvPr/>
        </p:nvSpPr>
        <p:spPr>
          <a:xfrm>
            <a:off x="731520" y="2448648"/>
            <a:ext cx="7734903" cy="2554545"/>
          </a:xfrm>
          <a:prstGeom prst="rect">
            <a:avLst/>
          </a:prstGeom>
          <a:solidFill>
            <a:srgbClr val="12121A"/>
          </a:solidFill>
          <a:ln>
            <a:solidFill>
              <a:srgbClr val="3AAFA9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3200" b="1" i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Crowd-sourced civic data has contributed to ICC proceedings &amp; criminal convictions. </a:t>
            </a:r>
          </a:p>
          <a:p>
            <a:pPr lvl="0" algn="ctr">
              <a:defRPr/>
            </a:pPr>
            <a:endParaRPr lang="en-US" sz="3200" b="1" i="1" dirty="0">
              <a:solidFill>
                <a:srgbClr val="3AAFA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lvl="0" algn="ctr">
              <a:defRPr/>
            </a:pPr>
            <a:br>
              <a:rPr lang="en-US" sz="3200" b="1" i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3200" b="1" i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 has real consequences.</a:t>
            </a:r>
            <a:endParaRPr lang="en-US" sz="3200" dirty="0">
              <a:solidFill>
                <a:srgbClr val="3AAFA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E8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Three Pillars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en-US" sz="13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crowd-sourced effort lives or dies on these axes</a:t>
            </a:r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2560320" cy="3017520"/>
          </a:xfrm>
          <a:prstGeom prst="rect">
            <a:avLst/>
          </a:prstGeom>
          <a:solidFill>
            <a:srgbClr val="1E1E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256032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192024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743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4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31520" y="32004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can you get</a:t>
            </a:r>
            <a:endParaRPr lang="en-US" sz="1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data flowing?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566160" y="1554480"/>
            <a:ext cx="2560320" cy="3017520"/>
          </a:xfrm>
          <a:prstGeom prst="rect">
            <a:avLst/>
          </a:prstGeom>
          <a:solidFill>
            <a:srgbClr val="1E1E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566160" y="1554480"/>
            <a:ext cx="256032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192024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2743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4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3566160" y="32004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protect</a:t>
            </a:r>
            <a:endParaRPr lang="en-US" sz="1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contributors &amp; organizers?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400800" y="1554480"/>
            <a:ext cx="2560320" cy="3017520"/>
          </a:xfrm>
          <a:prstGeom prst="rect">
            <a:avLst/>
          </a:prstGeom>
          <a:solidFill>
            <a:srgbClr val="1E1E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400800" y="1554480"/>
            <a:ext cx="256032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0" y="1920240"/>
            <a:ext cx="640080" cy="6400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0800" y="2743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4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RESILIENCY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6400800" y="32004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effort survive</a:t>
            </a:r>
            <a:endParaRPr lang="en-US" sz="1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and attrition?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731520" y="4663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C94040"/>
                </a:solidFill>
                <a:latin typeface="Calibri" pitchFamily="34" charset="0"/>
                <a:cs typeface="Calibri" pitchFamily="34" charset="-120"/>
              </a:rPr>
              <a:t>These pillars exist in productive tension.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Familiar Tradeoffs, Different Stakes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think in triangles. The skills transfer. The stakes don't.</a:t>
            </a:r>
          </a:p>
        </p:txBody>
      </p:sp>
      <p:sp>
        <p:nvSpPr>
          <p:cNvPr id="5" name="Text 3"/>
          <p:cNvSpPr/>
          <p:nvPr/>
        </p:nvSpPr>
        <p:spPr>
          <a:xfrm>
            <a:off x="274320" y="132588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Scope Triangle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274320" y="1627632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SDLC / Project Management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463040" y="19202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31520" y="2240280"/>
            <a:ext cx="3291840" cy="1645920"/>
          </a:xfrm>
          <a:prstGeom prst="triangle">
            <a:avLst/>
          </a:prstGeom>
          <a:solidFill>
            <a:srgbClr val="12121A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91440" y="39319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291840" y="39319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645920" y="4297680"/>
            <a:ext cx="1463040" cy="347472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Pick Two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74320" y="472744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i="1" dirty="0">
                <a:solidFill>
                  <a:srgbClr val="C94040"/>
                </a:solidFill>
                <a:latin typeface="Calibri" pitchFamily="34" charset="0"/>
                <a:cs typeface="Calibri" pitchFamily="34" charset="-120"/>
              </a:rPr>
              <a:t>Optimizes For Project Delivery</a:t>
            </a:r>
          </a:p>
        </p:txBody>
      </p:sp>
      <p:sp>
        <p:nvSpPr>
          <p:cNvPr id="14" name="Text 12"/>
          <p:cNvSpPr/>
          <p:nvPr/>
        </p:nvSpPr>
        <p:spPr>
          <a:xfrm>
            <a:off x="4663440" y="13258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Crowd Source Triangle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663440" y="162763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Community Data Under Pressure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852160" y="1920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30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120640" y="2240280"/>
            <a:ext cx="3291840" cy="1645920"/>
          </a:xfrm>
          <a:prstGeom prst="triangle">
            <a:avLst/>
          </a:prstGeom>
          <a:solidFill>
            <a:srgbClr val="12121A"/>
          </a:solidFill>
          <a:ln w="25400">
            <a:solidFill>
              <a:srgbClr val="D4A84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480560" y="3931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30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598072" y="3931920"/>
            <a:ext cx="154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30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RESILIENCY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760720" y="429768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1E1E2E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760720" y="42976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F0C75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Navigate All Three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663440" y="472744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defRPr/>
            </a:pPr>
            <a:r>
              <a:rPr lang="en-US" sz="1100" b="1" i="1" dirty="0">
                <a:solidFill>
                  <a:srgbClr val="C94040"/>
                </a:solidFill>
                <a:latin typeface="Calibri" pitchFamily="34" charset="0"/>
                <a:cs typeface="Calibri" pitchFamily="34" charset="-120"/>
              </a:rPr>
              <a:t>Optimizes For Human Outcomes &amp; System Survival</a:t>
            </a:r>
          </a:p>
        </p:txBody>
      </p:sp>
      <p:pic>
        <p:nvPicPr>
          <p:cNvPr id="25" name="Picture 24" descr="file:///C:/Users/johnd_h4rxswp/Downloads/neq-icon.png">
            <a:extLst>
              <a:ext uri="{FF2B5EF4-FFF2-40B4-BE49-F238E27FC236}">
                <a16:creationId xmlns:a16="http://schemas.microsoft.com/office/drawing/2014/main" id="{A69706FF-2A32-B64D-2CD3-C9673B0FB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79" y="187515"/>
            <a:ext cx="577749" cy="7040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27432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8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It Goes Wrong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31520" y="1005840"/>
            <a:ext cx="1371600" cy="27432"/>
          </a:xfrm>
          <a:prstGeom prst="rect">
            <a:avLst/>
          </a:prstGeom>
          <a:solidFill>
            <a:srgbClr val="C940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31520" y="1569954"/>
            <a:ext cx="7680960" cy="658368"/>
          </a:xfrm>
          <a:prstGeom prst="rect">
            <a:avLst/>
          </a:prstGeom>
          <a:solidFill>
            <a:srgbClr val="2E1A1A"/>
          </a:solidFill>
          <a:ln>
            <a:solidFill>
              <a:srgbClr val="C9404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14400" y="156995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Syria: YouTube deletions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200400" y="1569954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200K+ videos destroyed by automated content moderation. Evidence must live on infrastructure you control.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31520" y="2319762"/>
            <a:ext cx="7680960" cy="658368"/>
          </a:xfrm>
          <a:prstGeom prst="rect">
            <a:avLst/>
          </a:prstGeom>
          <a:solidFill>
            <a:srgbClr val="2E1A1A"/>
          </a:solidFill>
          <a:ln>
            <a:solidFill>
              <a:srgbClr val="C9404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14400" y="231976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Tunisia: ISP code injection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200400" y="2319762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stole activist passwords through the ISP itself. The network layer is adversarial.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31520" y="3069570"/>
            <a:ext cx="7680960" cy="658368"/>
          </a:xfrm>
          <a:prstGeom prst="rect">
            <a:avLst/>
          </a:prstGeom>
          <a:solidFill>
            <a:srgbClr val="2E1A1A"/>
          </a:solidFill>
          <a:ln>
            <a:solidFill>
              <a:srgbClr val="C9404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14400" y="306957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Haiti: SMS pleas published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200400" y="306957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personal location data made public without consent. Good intentions don't prevent harm.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31520" y="3819378"/>
            <a:ext cx="7680960" cy="658368"/>
          </a:xfrm>
          <a:prstGeom prst="rect">
            <a:avLst/>
          </a:prstGeom>
          <a:solidFill>
            <a:srgbClr val="2E1A1A"/>
          </a:solidFill>
          <a:ln>
            <a:solidFill>
              <a:srgbClr val="C9404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914400" y="381937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Bridgefy app (HK/Belarus)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200400" y="3819378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of adoption outran security vetting. Researchers could read messages and build social graphs.</a:t>
            </a:r>
            <a:endParaRPr 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A9C91A-BFE6-FA58-4EB8-4CE24C66A323}"/>
              </a:ext>
            </a:extLst>
          </p:cNvPr>
          <p:cNvSpPr txBox="1"/>
          <p:nvPr/>
        </p:nvSpPr>
        <p:spPr>
          <a:xfrm>
            <a:off x="3279341" y="2287737"/>
            <a:ext cx="4647652" cy="1077218"/>
          </a:xfrm>
          <a:prstGeom prst="rect">
            <a:avLst/>
          </a:prstGeom>
          <a:solidFill>
            <a:srgbClr val="12121A"/>
          </a:solidFill>
          <a:ln>
            <a:solidFill>
              <a:srgbClr val="3AAFA9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i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is not the point.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i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are.</a:t>
            </a:r>
            <a:endParaRPr lang="en-US" sz="3200" dirty="0">
              <a:solidFill>
                <a:srgbClr val="3AAFA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274320"/>
            <a:ext cx="7726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Is Someone Already Doing This?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 wastes scarce volunteer energy and fragments the data.</a:t>
            </a:r>
          </a:p>
        </p:txBody>
      </p:sp>
      <p:sp>
        <p:nvSpPr>
          <p:cNvPr id="4" name="Shape 2"/>
          <p:cNvSpPr/>
          <p:nvPr/>
        </p:nvSpPr>
        <p:spPr>
          <a:xfrm>
            <a:off x="2971800" y="1417320"/>
            <a:ext cx="3200400" cy="777240"/>
          </a:xfrm>
          <a:prstGeom prst="rect">
            <a:avLst/>
          </a:prstGeom>
          <a:solidFill>
            <a:srgbClr val="262640"/>
          </a:solidFill>
          <a:ln w="19050">
            <a:solidFill>
              <a:srgbClr val="D4A84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971800" y="14173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WHO ELSE IS ON THIS?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62856" y="2194560"/>
            <a:ext cx="18288" cy="164592"/>
          </a:xfrm>
          <a:prstGeom prst="rect">
            <a:avLst/>
          </a:prstGeom>
          <a:solidFill>
            <a:srgbClr val="8A6F2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828800" y="2359152"/>
            <a:ext cx="5486400" cy="18288"/>
          </a:xfrm>
          <a:prstGeom prst="rect">
            <a:avLst/>
          </a:prstGeom>
          <a:solidFill>
            <a:srgbClr val="8A6F2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819656" y="2359152"/>
            <a:ext cx="18288" cy="338328"/>
          </a:xfrm>
          <a:prstGeom prst="rect">
            <a:avLst/>
          </a:prstGeom>
          <a:solidFill>
            <a:srgbClr val="8A6F2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62856" y="2359152"/>
            <a:ext cx="18288" cy="338328"/>
          </a:xfrm>
          <a:prstGeom prst="rect">
            <a:avLst/>
          </a:prstGeom>
          <a:solidFill>
            <a:srgbClr val="8A6F2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306056" y="2359152"/>
            <a:ext cx="18288" cy="338328"/>
          </a:xfrm>
          <a:prstGeom prst="rect">
            <a:avLst/>
          </a:prstGeom>
          <a:solidFill>
            <a:srgbClr val="8A6F2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2743200" cy="178308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2743200" cy="73152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JOIN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80" y="33375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 existing effort already has data, contributors, and trust. Add to it instead of fragmenting.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00400" y="2697480"/>
            <a:ext cx="2743200" cy="178308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200400" y="2697480"/>
            <a:ext cx="2743200" cy="73152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38328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COORDINATE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383280" y="33375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Adjacent efforts exist but yours fills a real gap. Share schemas, share learnings, don't compete.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943600" y="2697480"/>
            <a:ext cx="2743200" cy="178308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943600" y="2697480"/>
            <a:ext cx="2743200" cy="73152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12648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BUILD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126480" y="33375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Nothing covers your question. Now you're on the hook for everything: 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speed, safety, resiliency, exit.</a:t>
            </a:r>
            <a:endParaRPr kumimoji="0" lang="en-US" sz="14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R="0" lvl="0" algn="ctr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400" b="1" i="1" dirty="0">
                <a:solidFill>
                  <a:srgbClr val="C94040"/>
                </a:solidFill>
                <a:latin typeface="Calibri" pitchFamily="34" charset="0"/>
                <a:cs typeface="Calibri" pitchFamily="34" charset="-120"/>
              </a:rPr>
              <a:t>Building is the last resort, not the first move.</a:t>
            </a:r>
          </a:p>
        </p:txBody>
      </p:sp>
      <p:pic>
        <p:nvPicPr>
          <p:cNvPr id="26" name="Image 0">
            <a:extLst>
              <a:ext uri="{FF2B5EF4-FFF2-40B4-BE49-F238E27FC236}">
                <a16:creationId xmlns:a16="http://schemas.microsoft.com/office/drawing/2014/main" id="{53F3C45A-8682-2497-B1F0-A7FE1A6B0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79476"/>
            <a:ext cx="457200" cy="45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477" y="34635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7677" y="274320"/>
            <a:ext cx="739480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8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Question Are You Answering?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731520" y="156523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mandates produce unusable data</a:t>
            </a:r>
            <a:endParaRPr lang="en-US" sz="1600" b="1" dirty="0"/>
          </a:p>
        </p:txBody>
      </p:sp>
      <p:sp>
        <p:nvSpPr>
          <p:cNvPr id="7" name="Text 4"/>
          <p:cNvSpPr/>
          <p:nvPr/>
        </p:nvSpPr>
        <p:spPr>
          <a:xfrm>
            <a:off x="4688797" y="1565236"/>
            <a:ext cx="378976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questions produce actionable data</a:t>
            </a:r>
            <a:endParaRPr lang="en-US" sz="1600" b="1" dirty="0">
              <a:solidFill>
                <a:srgbClr val="3AAFA9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731520" y="2022436"/>
            <a:ext cx="3657600" cy="457200"/>
          </a:xfrm>
          <a:prstGeom prst="rect">
            <a:avLst/>
          </a:prstGeom>
          <a:solidFill>
            <a:srgbClr val="2E1A1A"/>
          </a:solidFill>
          <a:ln>
            <a:solidFill>
              <a:srgbClr val="C9404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4400" y="202243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"Document everything"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1520" y="2571076"/>
            <a:ext cx="3657600" cy="457200"/>
          </a:xfrm>
          <a:prstGeom prst="rect">
            <a:avLst/>
          </a:prstGeom>
          <a:solidFill>
            <a:srgbClr val="2E1A1A"/>
          </a:solidFill>
          <a:ln>
            <a:solidFill>
              <a:srgbClr val="C9404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14400" y="257107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"Track all the activity"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31520" y="3119716"/>
            <a:ext cx="3657600" cy="457200"/>
          </a:xfrm>
          <a:prstGeom prst="rect">
            <a:avLst/>
          </a:prstGeom>
          <a:solidFill>
            <a:srgbClr val="2E1A1A"/>
          </a:solidFill>
          <a:ln>
            <a:solidFill>
              <a:srgbClr val="C9404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14400" y="311971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"Collect reports"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754880" y="2022436"/>
            <a:ext cx="3657600" cy="457200"/>
          </a:xfrm>
          <a:prstGeom prst="rect">
            <a:avLst/>
          </a:prstGeom>
          <a:solidFill>
            <a:srgbClr val="1E1E2E"/>
          </a:solidFill>
          <a:ln>
            <a:solidFill>
              <a:srgbClr val="3AAFA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937760" y="202243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the radiation on this street?"</a:t>
            </a:r>
            <a:endParaRPr lang="en-US" sz="1400" dirty="0">
              <a:solidFill>
                <a:srgbClr val="3AAFA9"/>
              </a:solidFill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754880" y="2571076"/>
            <a:ext cx="3657600" cy="457200"/>
          </a:xfrm>
          <a:prstGeom prst="rect">
            <a:avLst/>
          </a:prstGeom>
          <a:solidFill>
            <a:srgbClr val="1E1E2E"/>
          </a:solidFill>
          <a:ln>
            <a:solidFill>
              <a:srgbClr val="3AAFA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937760" y="257107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this specific claim be verified?"</a:t>
            </a:r>
            <a:endParaRPr lang="en-US" sz="1400" dirty="0">
              <a:solidFill>
                <a:srgbClr val="3AAFA9"/>
              </a:solidFill>
            </a:endParaRPr>
          </a:p>
        </p:txBody>
      </p:sp>
      <p:sp>
        <p:nvSpPr>
          <p:cNvPr id="18" name="Shape 15"/>
          <p:cNvSpPr/>
          <p:nvPr/>
        </p:nvSpPr>
        <p:spPr>
          <a:xfrm>
            <a:off x="4754880" y="3119716"/>
            <a:ext cx="3657600" cy="457200"/>
          </a:xfrm>
          <a:prstGeom prst="rect">
            <a:avLst/>
          </a:prstGeom>
          <a:solidFill>
            <a:srgbClr val="1E1E2E"/>
          </a:solidFill>
          <a:ln>
            <a:solidFill>
              <a:srgbClr val="3AAFA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937760" y="311971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were checkpoints active today?"</a:t>
            </a:r>
            <a:endParaRPr lang="en-US" sz="1400" dirty="0">
              <a:solidFill>
                <a:srgbClr val="3AAFA9"/>
              </a:solidFill>
            </a:endParaRPr>
          </a:p>
        </p:txBody>
      </p:sp>
      <p:sp>
        <p:nvSpPr>
          <p:cNvPr id="20" name="Text 17"/>
          <p:cNvSpPr/>
          <p:nvPr/>
        </p:nvSpPr>
        <p:spPr>
          <a:xfrm>
            <a:off x="731520" y="4204796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b="1" i="1" dirty="0">
                <a:solidFill>
                  <a:srgbClr val="C94040"/>
                </a:solidFill>
                <a:latin typeface="Calibri" pitchFamily="34" charset="0"/>
                <a:cs typeface="Calibri" pitchFamily="34" charset="-120"/>
              </a:rPr>
              <a:t>The data you don't collect can't be weaponized.</a:t>
            </a:r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89C720E6-8BE4-35EA-664B-C6067FDBBBA8}"/>
              </a:ext>
            </a:extLst>
          </p:cNvPr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minimum viable data point to answer the question.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1" y="274320"/>
            <a:ext cx="7726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Trust Without Identity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At work you authenticate users. Here you can't — and shouldn't.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828800" y="1417320"/>
            <a:ext cx="6035040" cy="3108960"/>
          </a:xfrm>
          <a:prstGeom prst="rect">
            <a:avLst/>
          </a:prstGeom>
          <a:solidFill>
            <a:srgbClr val="1E1E2E"/>
          </a:solidFill>
          <a:ln w="6350">
            <a:solidFill>
              <a:srgbClr val="8B8DA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828800" y="2971800"/>
            <a:ext cx="6035040" cy="0"/>
          </a:xfrm>
          <a:prstGeom prst="line">
            <a:avLst/>
          </a:prstGeom>
          <a:noFill/>
          <a:ln w="9525">
            <a:solidFill>
              <a:srgbClr val="8B8DA0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46320" y="1417320"/>
            <a:ext cx="0" cy="3108960"/>
          </a:xfrm>
          <a:prstGeom prst="line">
            <a:avLst/>
          </a:prstGeom>
          <a:noFill/>
          <a:ln w="9525">
            <a:solidFill>
              <a:srgbClr val="8B8DA0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HIGH VERIFICATION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LOW VERIFICATION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874520" y="4572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 SUBMISSION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846320" y="45720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CLOSED SUBMISSION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057400" y="1600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HYBRID VERIFICATION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057400" y="19202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 submission, but every report passes geo/chrono checks before publication.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937759" y="1600200"/>
            <a:ext cx="2834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D4A843"/>
                </a:solidFill>
                <a:latin typeface="Georgia" pitchFamily="34" charset="0"/>
              </a:rPr>
              <a:t>CLOSED CROWDSOURCING</a:t>
            </a:r>
          </a:p>
        </p:txBody>
      </p:sp>
      <p:sp>
        <p:nvSpPr>
          <p:cNvPr id="17" name="Text 15"/>
          <p:cNvSpPr/>
          <p:nvPr/>
        </p:nvSpPr>
        <p:spPr>
          <a:xfrm>
            <a:off x="5074920" y="19202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Vetted contributors with verified private identities and operational pseudonyms.</a:t>
            </a:r>
          </a:p>
        </p:txBody>
      </p:sp>
      <p:sp>
        <p:nvSpPr>
          <p:cNvPr id="20" name="Text 18"/>
          <p:cNvSpPr/>
          <p:nvPr/>
        </p:nvSpPr>
        <p:spPr>
          <a:xfrm>
            <a:off x="2057400" y="3154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OPEN CROWDSOURCING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057400" y="3474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submit. Trust comes from clustering: independent reports agreeing.</a:t>
            </a:r>
          </a:p>
        </p:txBody>
      </p:sp>
      <p:sp>
        <p:nvSpPr>
          <p:cNvPr id="24" name="Text 22"/>
          <p:cNvSpPr/>
          <p:nvPr/>
        </p:nvSpPr>
        <p:spPr>
          <a:xfrm>
            <a:off x="5074920" y="3154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TIERED PUBLICATION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074920" y="3474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layer for speed, verified layer for confidence. Reader picks the threshold.</a:t>
            </a:r>
          </a:p>
        </p:txBody>
      </p:sp>
      <p:sp>
        <p:nvSpPr>
          <p:cNvPr id="27" name="Text 25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lnSpc>
                <a:spcPct val="140000"/>
              </a:lnSpc>
              <a:buFontTx/>
              <a:buNone/>
            </a:pPr>
            <a:r>
              <a:rPr lang="en-US" sz="1400" b="1" i="1" dirty="0">
                <a:solidFill>
                  <a:srgbClr val="C94040"/>
                </a:solidFill>
                <a:latin typeface="Calibri" pitchFamily="34" charset="0"/>
                <a:cs typeface="Calibri" pitchFamily="34" charset="-120"/>
              </a:rPr>
              <a:t>The right model depends on the consequence of being wrong</a:t>
            </a:r>
          </a:p>
        </p:txBody>
      </p:sp>
      <p:pic>
        <p:nvPicPr>
          <p:cNvPr id="29" name="Image 0" descr="preencoded.png">
            <a:extLst>
              <a:ext uri="{FF2B5EF4-FFF2-40B4-BE49-F238E27FC236}">
                <a16:creationId xmlns:a16="http://schemas.microsoft.com/office/drawing/2014/main" id="{7EB1D625-7744-D023-583D-2D9DF47110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6087"/>
            <a:ext cx="457200" cy="45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" y="274320"/>
            <a:ext cx="7717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Know Your Biases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You spent your career fighting biased models. This is the same problem, harder.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64008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645920" cy="640080"/>
          </a:xfrm>
          <a:prstGeom prst="rect">
            <a:avLst/>
          </a:prstGeom>
          <a:solidFill>
            <a:srgbClr val="26264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4864" cy="640080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Geographic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2194560" y="1399032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Connected, populous areas dominate. Rural and infrastructure-poor regions go silent.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35040" y="1399032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0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GROUND: </a:t>
            </a: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Ushahidi's Kenya map underrepresented counties with thin SMS coverage.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2002536"/>
            <a:ext cx="8229600" cy="64008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2002536"/>
            <a:ext cx="1645920" cy="640080"/>
          </a:xfrm>
          <a:prstGeom prst="rect">
            <a:avLst/>
          </a:prstGeom>
          <a:solidFill>
            <a:srgbClr val="26264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2002536"/>
            <a:ext cx="54864" cy="640080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94360" y="2002536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Demographic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194560" y="2075688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Digital literacy, language, and bandwidth gate participation.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035040" y="2075688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0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GROUND: </a:t>
            </a: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Nepal earthquake mapping — the most vulnerable communities became less visible, not more.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2679192"/>
            <a:ext cx="8229600" cy="64008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2679192"/>
            <a:ext cx="1645920" cy="640080"/>
          </a:xfrm>
          <a:prstGeom prst="rect">
            <a:avLst/>
          </a:prstGeom>
          <a:solidFill>
            <a:srgbClr val="26264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2679192"/>
            <a:ext cx="54864" cy="640080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94360" y="267919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Survivorship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194560" y="2752344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Only those who survived, escaped, or stayed online get to report.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035040" y="2752344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0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GROUND: </a:t>
            </a: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Syria archives are necessarily skewed toward survivors and escaped witnesses.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3355848"/>
            <a:ext cx="8229600" cy="64008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200" y="3355848"/>
            <a:ext cx="1645920" cy="640080"/>
          </a:xfrm>
          <a:prstGeom prst="rect">
            <a:avLst/>
          </a:prstGeom>
          <a:solidFill>
            <a:srgbClr val="26264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57200" y="3355848"/>
            <a:ext cx="54864" cy="640080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94360" y="335584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Reporting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194560" y="3429000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Dramatic events get logged; slow patterns don't. Frequency ≠ severity.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035040" y="3429000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0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GROUND: </a:t>
            </a: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Hurricane Harvey social data overweighted affluent flood damage; persistent poverty was invisible.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57200" y="4032504"/>
            <a:ext cx="8229600" cy="64008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57200" y="4032504"/>
            <a:ext cx="1645920" cy="640080"/>
          </a:xfrm>
          <a:prstGeom prst="rect">
            <a:avLst/>
          </a:prstGeom>
          <a:solidFill>
            <a:srgbClr val="26264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57200" y="4032504"/>
            <a:ext cx="54864" cy="640080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94360" y="403250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Platform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2194560" y="4105656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Your submission channel selects your respondents before anyone hits submit.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035040" y="4105656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0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GROUND: </a:t>
            </a: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SMS reaches a different population than an iOS app or a Telegram channel.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Image 0" descr="preencoded.png">
            <a:extLst>
              <a:ext uri="{FF2B5EF4-FFF2-40B4-BE49-F238E27FC236}">
                <a16:creationId xmlns:a16="http://schemas.microsoft.com/office/drawing/2014/main" id="{B4F0EA91-C49C-CFE3-EAC3-292DB56CF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374904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4134" y="274320"/>
            <a:ext cx="775266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Detecting Bad Faith &amp; Data Poisoning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You validate every dataset at work. Here, the dataset is also the adversary.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C254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ATTACK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75488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3AA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DEFENSE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3AAFA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114800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54864" cy="566928"/>
          </a:xfrm>
          <a:prstGeom prst="rect">
            <a:avLst/>
          </a:prstGeom>
          <a:solidFill>
            <a:srgbClr val="C2545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16550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Bot Flooding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18928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submissions drown legitimate reports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0" y="1883664"/>
            <a:ext cx="164592" cy="0"/>
          </a:xfrm>
          <a:prstGeom prst="line">
            <a:avLst/>
          </a:prstGeom>
          <a:noFill/>
          <a:ln w="12700">
            <a:solidFill>
              <a:srgbClr val="8B8DA0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54880" y="1600200"/>
            <a:ext cx="3931920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754880" y="1600200"/>
            <a:ext cx="54864" cy="566928"/>
          </a:xfrm>
          <a:prstGeom prst="rect">
            <a:avLst/>
          </a:prstGeom>
          <a:solidFill>
            <a:srgbClr val="3AAFA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937760" y="160020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limiting, behavioral fingerprinting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2212848"/>
            <a:ext cx="4114800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2212848"/>
            <a:ext cx="54864" cy="566928"/>
          </a:xfrm>
          <a:prstGeom prst="rect">
            <a:avLst/>
          </a:prstGeom>
          <a:solidFill>
            <a:srgbClr val="C2545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080" y="22677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False Reports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0080" y="25054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misinformation seeded to discredit the dataset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0" y="2496312"/>
            <a:ext cx="164592" cy="0"/>
          </a:xfrm>
          <a:prstGeom prst="line">
            <a:avLst/>
          </a:prstGeom>
          <a:noFill/>
          <a:ln w="12700">
            <a:solidFill>
              <a:srgbClr val="8B8DA0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754880" y="2212848"/>
            <a:ext cx="3931920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754880" y="2212848"/>
            <a:ext cx="54864" cy="566928"/>
          </a:xfrm>
          <a:prstGeom prst="rect">
            <a:avLst/>
          </a:prstGeom>
          <a:solidFill>
            <a:srgbClr val="3AAFA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937760" y="221284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corroboration, geographic clustering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2825496"/>
            <a:ext cx="4114800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200" y="2825496"/>
            <a:ext cx="54864" cy="566928"/>
          </a:xfrm>
          <a:prstGeom prst="rect">
            <a:avLst/>
          </a:prstGeom>
          <a:solidFill>
            <a:srgbClr val="C2545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0080" y="28803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Weaponized Flagging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0080" y="31181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Platform moderation rules turned against you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72000" y="3108960"/>
            <a:ext cx="164592" cy="0"/>
          </a:xfrm>
          <a:prstGeom prst="line">
            <a:avLst/>
          </a:prstGeom>
          <a:noFill/>
          <a:ln w="12700">
            <a:solidFill>
              <a:srgbClr val="8B8DA0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754880" y="2825496"/>
            <a:ext cx="3931920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754880" y="2825496"/>
            <a:ext cx="54864" cy="566928"/>
          </a:xfrm>
          <a:prstGeom prst="rect">
            <a:avLst/>
          </a:prstGeom>
          <a:solidFill>
            <a:srgbClr val="3AAFA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937760" y="282549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archives, never trust third-party as primary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57200" y="3438144"/>
            <a:ext cx="4114800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57200" y="3438144"/>
            <a:ext cx="54864" cy="566928"/>
          </a:xfrm>
          <a:prstGeom prst="rect">
            <a:avLst/>
          </a:prstGeom>
          <a:solidFill>
            <a:srgbClr val="C2545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40080" y="34930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Trust Gaming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40080" y="3730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Bots simulate normal behavior, build credit, then inject false data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572000" y="3721608"/>
            <a:ext cx="164592" cy="0"/>
          </a:xfrm>
          <a:prstGeom prst="line">
            <a:avLst/>
          </a:prstGeom>
          <a:noFill/>
          <a:ln w="12700">
            <a:solidFill>
              <a:srgbClr val="8B8DA0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754880" y="3438144"/>
            <a:ext cx="3931920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754880" y="3438144"/>
            <a:ext cx="54864" cy="566928"/>
          </a:xfrm>
          <a:prstGeom prst="rect">
            <a:avLst/>
          </a:prstGeom>
          <a:solidFill>
            <a:srgbClr val="3AAFA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937760" y="343814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Redundancy: multiple independent observers per event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57200" y="4050792"/>
            <a:ext cx="4114800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57200" y="4050792"/>
            <a:ext cx="54864" cy="566928"/>
          </a:xfrm>
          <a:prstGeom prst="rect">
            <a:avLst/>
          </a:prstGeom>
          <a:solidFill>
            <a:srgbClr val="C2545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40080" y="41056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AI-Generated Content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40080" y="4343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Synthetic text and images polluting submissions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572000" y="4334256"/>
            <a:ext cx="164592" cy="0"/>
          </a:xfrm>
          <a:prstGeom prst="line">
            <a:avLst/>
          </a:prstGeom>
          <a:noFill/>
          <a:ln w="12700">
            <a:solidFill>
              <a:srgbClr val="8B8DA0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4754880" y="4050792"/>
            <a:ext cx="3931920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4754880" y="4050792"/>
            <a:ext cx="54864" cy="566928"/>
          </a:xfrm>
          <a:prstGeom prst="rect">
            <a:avLst/>
          </a:prstGeom>
          <a:solidFill>
            <a:srgbClr val="3AAFA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4937760" y="405079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metadata checks, human review layer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8" name="Image 0" descr="preencoded.png">
            <a:extLst>
              <a:ext uri="{FF2B5EF4-FFF2-40B4-BE49-F238E27FC236}">
                <a16:creationId xmlns:a16="http://schemas.microsoft.com/office/drawing/2014/main" id="{624FCBC0-7F3B-E868-0B16-B08C37AA6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324612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Protecting Contributors &amp; Organizers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Privacy at work is compliance. Here, it's whether someone goes home tonight.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691640"/>
            <a:ext cx="2743200" cy="274320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2743200" cy="73152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10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KNOW THE THREAT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2441448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State, corporate, vigilante; each has different capabilities.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srgbClr val="E8E8E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Scale your defenses to actual threats.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00400" y="1691640"/>
            <a:ext cx="2743200" cy="274320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00400" y="1691640"/>
            <a:ext cx="2743200" cy="73152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383280" y="1920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10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COLLECT LESS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383280" y="2441448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Every unnecessary field is a future weapon.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srgbClr val="E8E8E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Strip metadata at ingestion.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srgbClr val="E8E8E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Reduce precision to what your analysis truly needs.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80760" y="1691640"/>
            <a:ext cx="2743200" cy="274320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80760" y="1691640"/>
            <a:ext cx="2743200" cy="73152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08076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10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COMPARTMENTALIZE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63640" y="2441448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algn="ctr"/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point of failure should endanger the whole effort. </a:t>
            </a:r>
          </a:p>
          <a:p>
            <a:pPr lvl="0" algn="ctr"/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E8E8EC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lvl="0" algn="ctr"/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Distribute credentials. </a:t>
            </a:r>
          </a:p>
          <a:p>
            <a:pPr lvl="0" algn="ctr"/>
            <a:endParaRPr lang="en-US" sz="1600" dirty="0">
              <a:solidFill>
                <a:srgbClr val="E8E8E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lvl="0" algn="ctr"/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Pre-establish backup communication channels</a:t>
            </a:r>
            <a:r>
              <a:rPr lang="en-US" sz="16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Image 0" descr="preencoded.png">
            <a:extLst>
              <a:ext uri="{FF2B5EF4-FFF2-40B4-BE49-F238E27FC236}">
                <a16:creationId xmlns:a16="http://schemas.microsoft.com/office/drawing/2014/main" id="{F9B4F56C-F3EA-0B2F-2791-7E60D6C7C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457200" cy="457200"/>
          </a:xfrm>
          <a:prstGeom prst="rect">
            <a:avLst/>
          </a:prstGeom>
        </p:spPr>
      </p:pic>
      <p:sp>
        <p:nvSpPr>
          <p:cNvPr id="22" name="Text 13">
            <a:extLst>
              <a:ext uri="{FF2B5EF4-FFF2-40B4-BE49-F238E27FC236}">
                <a16:creationId xmlns:a16="http://schemas.microsoft.com/office/drawing/2014/main" id="{1236C726-79DD-32B9-C841-90566E6AD164}"/>
              </a:ext>
            </a:extLst>
          </p:cNvPr>
          <p:cNvSpPr/>
          <p:nvPr/>
        </p:nvSpPr>
        <p:spPr>
          <a:xfrm>
            <a:off x="731520" y="4663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i="1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Over-securing paralyzes operations as fast as under-securing.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8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Mosaic Effect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371600" cy="2743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Individually harmless data points become dangerous when combined.</a:t>
            </a:r>
          </a:p>
        </p:txBody>
      </p:sp>
      <p:sp>
        <p:nvSpPr>
          <p:cNvPr id="6" name="Shape 4"/>
          <p:cNvSpPr/>
          <p:nvPr/>
        </p:nvSpPr>
        <p:spPr>
          <a:xfrm>
            <a:off x="731520" y="1737359"/>
            <a:ext cx="3200400" cy="2217419"/>
          </a:xfrm>
          <a:prstGeom prst="rect">
            <a:avLst/>
          </a:prstGeom>
          <a:solidFill>
            <a:srgbClr val="1E1E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87%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731520" y="3074669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Americans uniquely identifiable</a:t>
            </a:r>
            <a:endParaRPr lang="en-US" sz="1600" dirty="0">
              <a:solidFill>
                <a:srgbClr val="D4A843"/>
              </a:solidFill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just 3 data points:</a:t>
            </a:r>
            <a:endParaRPr lang="en-US" sz="1600" dirty="0">
              <a:solidFill>
                <a:srgbClr val="D4A843"/>
              </a:solidFill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+ birthdate + gender</a:t>
            </a:r>
            <a:endParaRPr lang="en-US" sz="1600" dirty="0">
              <a:solidFill>
                <a:srgbClr val="D4A843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389120" y="1737360"/>
            <a:ext cx="4023360" cy="2217420"/>
          </a:xfrm>
          <a:prstGeom prst="rect">
            <a:avLst/>
          </a:prstGeom>
          <a:solidFill>
            <a:srgbClr val="1E1E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19456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Strava heatmap exposed military bases, patrol routes, and 18,599 French military personnel across 100 bases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taxi data was reverse-engineered to identify Muslim drivers via prayer time correlations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Prize data de-anonymized through correlation with public IMDb reviews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4206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the assumption that your adversary has access to datasets you don't know about.</a:t>
            </a:r>
            <a:endParaRPr lang="en-US" sz="1400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9">
            <a:extLst>
              <a:ext uri="{FF2B5EF4-FFF2-40B4-BE49-F238E27FC236}">
                <a16:creationId xmlns:a16="http://schemas.microsoft.com/office/drawing/2014/main" id="{4B354433-78C6-6578-0D79-24C34E12E48C}"/>
              </a:ext>
            </a:extLst>
          </p:cNvPr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CEFE8534-1B30-FECA-5DA8-009AD0863935}"/>
              </a:ext>
            </a:extLst>
          </p:cNvPr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27432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8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 Your Infrastructure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31520" y="1005840"/>
            <a:ext cx="1371600" cy="2743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31520" y="1188720"/>
            <a:ext cx="7680960" cy="109728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11887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F0C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are writing our memories not in our own book but in a third party's book. We don't have control of it."</a:t>
            </a: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8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 al Khatib, Syrian Archive founder, after YouTube deleted 200,000 videos of the Syrian conflict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your data live on infrastructure you control? Plan for the day platforms delete it.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distributed is your architecture? Mirrors across jurisdictions resist legal takedowns.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your plan for internet shutdowns? (Egypt, Iran, Belarus, India have all imposed them)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handle platform rules being weaponized against you?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31520" y="4663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distributed to fail. That’s the goal.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27432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8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Do With The Data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31520" y="1005840"/>
            <a:ext cx="1371600" cy="2743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31520" y="1280160"/>
            <a:ext cx="7680960" cy="530352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128016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 from this data?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114800" y="128016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Principles: Collective Benefit, Authority to Control, Responsibility, Ethics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1901952"/>
            <a:ext cx="7680960" cy="530352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14400" y="1901952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controls access?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114800" y="1901952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roles, permissions, and revocation processes before collection begins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31520" y="2523744"/>
            <a:ext cx="7680960" cy="530352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14400" y="2523744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your retention policies?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114800" y="2523744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do you keep raw data? When does it get aggregated or destroyed?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31520" y="3145536"/>
            <a:ext cx="7680960" cy="530352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14400" y="3145536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this data harm the people it describes?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114800" y="3145536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well-intentioned collection can endanger vulnerable communities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31520" y="3767328"/>
            <a:ext cx="7680960" cy="530352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914400" y="376732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data creating legal obligations?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114800" y="3767328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preservation, data protection laws, cross-border data transfer rules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31520" y="4389120"/>
            <a:ext cx="7680960" cy="530352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914400" y="438912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publish responsibly?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114800" y="438912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Aggregate, anonymize, delay. </a:t>
            </a:r>
            <a:endParaRPr lang="en-US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F38A83B-925D-57FA-C1ED-BAB62E61FE81}"/>
              </a:ext>
            </a:extLst>
          </p:cNvPr>
          <p:cNvSpPr txBox="1"/>
          <p:nvPr/>
        </p:nvSpPr>
        <p:spPr>
          <a:xfrm>
            <a:off x="3279341" y="2571750"/>
            <a:ext cx="4647652" cy="1077218"/>
          </a:xfrm>
          <a:prstGeom prst="rect">
            <a:avLst/>
          </a:prstGeom>
          <a:solidFill>
            <a:srgbClr val="12121A"/>
          </a:solidFill>
          <a:ln>
            <a:solidFill>
              <a:srgbClr val="3AAFA9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3200" b="1" i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you release cannot be un-released.</a:t>
            </a:r>
            <a:endParaRPr lang="en-US" sz="3200" dirty="0">
              <a:solidFill>
                <a:srgbClr val="3AAFA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27432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8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Does It End?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31520" y="1005840"/>
            <a:ext cx="1371600" cy="2743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31520" y="1188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Handoff, sunset, or destruction. Sustainability is the silent killer of civic tech. </a:t>
            </a:r>
          </a:p>
        </p:txBody>
      </p:sp>
      <p:sp>
        <p:nvSpPr>
          <p:cNvPr id="7" name="Shape 4"/>
          <p:cNvSpPr/>
          <p:nvPr/>
        </p:nvSpPr>
        <p:spPr>
          <a:xfrm>
            <a:off x="731520" y="1737360"/>
            <a:ext cx="7680960" cy="914400"/>
          </a:xfrm>
          <a:prstGeom prst="rect">
            <a:avLst/>
          </a:prstGeom>
          <a:solidFill>
            <a:srgbClr val="1E1E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31520" y="1737360"/>
            <a:ext cx="54864" cy="914400"/>
          </a:xfrm>
          <a:prstGeom prst="rect">
            <a:avLst/>
          </a:prstGeom>
          <a:solidFill>
            <a:srgbClr val="3AAF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05840" y="17373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Orderly Wind-down</a:t>
            </a:r>
            <a:endParaRPr lang="en-US" dirty="0">
              <a:solidFill>
                <a:srgbClr val="3AAFA9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3200400" y="17373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accomplished or funding exhausted. Who inherits the data? How is community trust transferred?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31520" y="2788920"/>
            <a:ext cx="7680960" cy="914400"/>
          </a:xfrm>
          <a:prstGeom prst="rect">
            <a:avLst/>
          </a:prstGeom>
          <a:solidFill>
            <a:srgbClr val="1E1E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31520" y="2788920"/>
            <a:ext cx="54864" cy="9144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005840" y="27889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Shutdown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200400" y="27889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action, platform takedown, or political pressure. Where does the data go? What gets preserved vs. destroyed?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solidFill>
            <a:srgbClr val="1E1E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31520" y="3840480"/>
            <a:ext cx="54864" cy="914400"/>
          </a:xfrm>
          <a:prstGeom prst="rect">
            <a:avLst/>
          </a:prstGeom>
          <a:solidFill>
            <a:srgbClr val="C940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05840" y="38404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 Attrition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200400" y="38404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people leave, burn out or worse. Who has backup credentials? What's the succession plan?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800" b="1" dirty="0">
                <a:solidFill>
                  <a:srgbClr val="D4A843"/>
                </a:solidFill>
                <a:latin typeface="Georgia" pitchFamily="34" charset="0"/>
              </a:rPr>
              <a:t>Some Tradeoffs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Don't Have A Right Answer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34340" y="1783080"/>
            <a:ext cx="4069080" cy="123444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71500" y="192024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SPEED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  vs 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RIGOR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62940" y="2468880"/>
            <a:ext cx="3611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 fast you need it vs. how sure you need to be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640580" y="1783080"/>
            <a:ext cx="4069080" cy="123444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777740" y="192024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OPENNESS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  vs 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SECURITY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69180" y="2468880"/>
            <a:ext cx="3611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lets allies in also lets adversaries in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4340" y="3154680"/>
            <a:ext cx="4069080" cy="123444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71500" y="329184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DOCUMENTATION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  vs 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DANGER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62940" y="3840480"/>
            <a:ext cx="3611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recorded abuse potentially identifies a victim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640580" y="3154680"/>
            <a:ext cx="4069080" cy="123444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777740" y="329184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DISTRIBUTION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  vs 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GOVERNANCE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69180" y="3840480"/>
            <a:ext cx="3611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to censorship costs you central control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These constraints are yours to set. That's the job.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i="1" dirty="0">
                <a:solidFill>
                  <a:srgbClr val="F0C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have friends everywhere."</a:t>
            </a:r>
            <a:endParaRPr lang="en-US" sz="44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A6E1CCCE-A1D5-77EC-FF47-A00730C81D99}"/>
              </a:ext>
            </a:extLst>
          </p:cNvPr>
          <p:cNvSpPr/>
          <p:nvPr/>
        </p:nvSpPr>
        <p:spPr>
          <a:xfrm>
            <a:off x="731520" y="32918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Perhaps with crowd sourced data, you can too.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8C04F11D-C07C-49C3-A584-CDF352AA2DE0}"/>
              </a:ext>
            </a:extLst>
          </p:cNvPr>
          <p:cNvSpPr/>
          <p:nvPr/>
        </p:nvSpPr>
        <p:spPr>
          <a:xfrm>
            <a:off x="3657600" y="4114800"/>
            <a:ext cx="1828800" cy="18288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A4DD42B8-2322-B2AD-8366-219D8E7AC694}"/>
              </a:ext>
            </a:extLst>
          </p:cNvPr>
          <p:cNvSpPr/>
          <p:nvPr/>
        </p:nvSpPr>
        <p:spPr>
          <a:xfrm>
            <a:off x="2743200" y="4251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8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 It With You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822960"/>
            <a:ext cx="1371600" cy="2743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find: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5029200" cy="32004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554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938528"/>
            <a:ext cx="5029200" cy="32004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93852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checklist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322576"/>
            <a:ext cx="5029200" cy="32004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232257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list of open-source repos and tools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706624"/>
            <a:ext cx="5029200" cy="32004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270662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and organizations to follow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090672"/>
            <a:ext cx="5029200" cy="32004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309067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reading list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474720"/>
            <a:ext cx="5029200" cy="32004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34747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references on verification &amp; bias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1097280"/>
            <a:ext cx="2286000" cy="2286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17920" y="109728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[QR CODE]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3474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for resources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3931920"/>
            <a:ext cx="7680960" cy="91440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</a:t>
            </a:r>
            <a:r>
              <a:rPr lang="en-US" sz="12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Crowd-sourced civic data has contributed to ICC proceedings, criminal convictions in Germany, Sweden, Finland, and the Netherlands, and international sanctions regimes. The Berkeley Protocol establishes that digital open-source evidence meets courtroom standards. This work has real consequences.</a:t>
            </a:r>
            <a:endParaRPr lang="en-US" sz="1300" dirty="0"/>
          </a:p>
        </p:txBody>
      </p:sp>
      <p:pic>
        <p:nvPicPr>
          <p:cNvPr id="1026" name="Picture 2" descr="QR Code Image">
            <a:extLst>
              <a:ext uri="{FF2B5EF4-FFF2-40B4-BE49-F238E27FC236}">
                <a16:creationId xmlns:a16="http://schemas.microsoft.com/office/drawing/2014/main" id="{89C6D522-9CCC-EEB6-6125-3497908B0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7920" y="1097280"/>
            <a:ext cx="2286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860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Sources &amp; Citations (1/2)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48640" y="731520"/>
            <a:ext cx="1097280" cy="2286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Standards &amp; Protocols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731520" y="123444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Berkeley Protocol on Digital Open Source Investigations (2020)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>
            <a:hlinkClick r:id="rId4"/>
          </p:cNvPr>
          <p:cNvSpPr/>
          <p:nvPr/>
        </p:nvSpPr>
        <p:spPr>
          <a:xfrm>
            <a:off x="5760720" y="123444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sng" strike="noStrike" kern="1200" cap="none" spc="0" normalizeH="0" baseline="0" noProof="0" dirty="0">
                <a:ln>
                  <a:noFill/>
                </a:ln>
                <a:solidFill>
                  <a:srgbClr val="3AA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ohchr.org/...berkeley-protocol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731520" y="152704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CARE Principles for Indigenous Data Governance (Carroll et al., 2020)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>
            <a:hlinkClick r:id="rId5"/>
          </p:cNvPr>
          <p:cNvSpPr/>
          <p:nvPr/>
        </p:nvSpPr>
        <p:spPr>
          <a:xfrm>
            <a:off x="5760720" y="152704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sng" strike="noStrike" kern="1200" cap="none" spc="0" normalizeH="0" baseline="0" noProof="0" dirty="0">
                <a:ln>
                  <a:noFill/>
                </a:ln>
                <a:solidFill>
                  <a:srgbClr val="3AA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datascience.codata.org/articles/dsj-2020-043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31520" y="181965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ICRC: The Mosaic Effect - Revelation Risks of Combining Data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>
            <a:hlinkClick r:id="rId6"/>
          </p:cNvPr>
          <p:cNvSpPr/>
          <p:nvPr/>
        </p:nvSpPr>
        <p:spPr>
          <a:xfrm>
            <a:off x="5760720" y="181965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sng" strike="noStrike" kern="1200" cap="none" spc="0" normalizeH="0" baseline="0" noProof="0" dirty="0">
                <a:ln>
                  <a:noFill/>
                </a:ln>
                <a:solidFill>
                  <a:srgbClr val="3AA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blogs.icrc.org/.../mosaic-effect-revelation-risks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48640" y="2249424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Key Case Studies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31520" y="256946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Ushahidi: From Crisis Mapping Kenya to Mapping the Globe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>
            <a:hlinkClick r:id="rId7"/>
          </p:cNvPr>
          <p:cNvSpPr/>
          <p:nvPr/>
        </p:nvSpPr>
        <p:spPr>
          <a:xfrm>
            <a:off x="5760720" y="256946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sng" strike="noStrike" kern="1200" cap="none" spc="0" normalizeH="0" baseline="0" noProof="0" dirty="0">
                <a:ln>
                  <a:noFill/>
                </a:ln>
                <a:solidFill>
                  <a:srgbClr val="3AA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tavaana.org/.../ushahidi-crisis-mapping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31520" y="286207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Bellingcat: OSINT and War Crime Accountability in Ukraine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>
            <a:hlinkClick r:id="rId8"/>
          </p:cNvPr>
          <p:cNvSpPr/>
          <p:nvPr/>
        </p:nvSpPr>
        <p:spPr>
          <a:xfrm>
            <a:off x="5760720" y="286207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sng" strike="noStrike" kern="1200" cap="none" spc="0" normalizeH="0" baseline="0" noProof="0" dirty="0">
                <a:ln>
                  <a:noFill/>
                </a:ln>
                <a:solidFill>
                  <a:srgbClr val="3AA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rusi.org/.../osint-war-crime-accountability-ukraine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31520" y="31546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HRW: Social Media Platforms Remove Evidence of War Crimes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5">
            <a:hlinkClick r:id="rId9"/>
          </p:cNvPr>
          <p:cNvSpPr/>
          <p:nvPr/>
        </p:nvSpPr>
        <p:spPr>
          <a:xfrm>
            <a:off x="5760720" y="315468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sng" strike="noStrike" kern="1200" cap="none" spc="0" normalizeH="0" baseline="0" noProof="0" dirty="0">
                <a:ln>
                  <a:noFill/>
                </a:ln>
                <a:solidFill>
                  <a:srgbClr val="3AA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hrw.org/.../video-unavailable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31520" y="344728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Syrian Archive / Mnemonic: Digital Evidence Preservation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>
            <a:hlinkClick r:id="rId10"/>
          </p:cNvPr>
          <p:cNvSpPr/>
          <p:nvPr/>
        </p:nvSpPr>
        <p:spPr>
          <a:xfrm>
            <a:off x="5760720" y="344728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sng" strike="noStrike" kern="1200" cap="none" spc="0" normalizeH="0" baseline="0" noProof="0" dirty="0">
                <a:ln>
                  <a:noFill/>
                </a:ln>
                <a:solidFill>
                  <a:srgbClr val="3AA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mnemonic.org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31520" y="373989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Safecast: Citizen Radiation Monitoring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9">
            <a:hlinkClick r:id="rId11"/>
          </p:cNvPr>
          <p:cNvSpPr/>
          <p:nvPr/>
        </p:nvSpPr>
        <p:spPr>
          <a:xfrm>
            <a:off x="5760720" y="373989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sng" strike="noStrike" kern="1200" cap="none" spc="0" normalizeH="0" baseline="0" noProof="0" dirty="0">
                <a:ln>
                  <a:noFill/>
                </a:ln>
                <a:solidFill>
                  <a:srgbClr val="3AA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safecast.org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8542245E-B30D-0D03-4202-BFA7D14FC736}"/>
              </a:ext>
            </a:extLst>
          </p:cNvPr>
          <p:cNvSpPr/>
          <p:nvPr/>
        </p:nvSpPr>
        <p:spPr>
          <a:xfrm>
            <a:off x="731520" y="4229100"/>
            <a:ext cx="7525789" cy="52578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128D2076-E347-74F5-7979-999920171BA4}"/>
              </a:ext>
            </a:extLst>
          </p:cNvPr>
          <p:cNvSpPr/>
          <p:nvPr/>
        </p:nvSpPr>
        <p:spPr>
          <a:xfrm>
            <a:off x="731520" y="41148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sources referenced in this talk: Sweeney (2000) on re-identification; Freedom House Freedom on the Net reports; Strava heatmap investigations (Le Monde, 2025); Fang et al. &amp; Miao et al. on adversarial crowdsourcing; Wiggins et al. (2011) on citizen science validation; COINTELPRO documentation; Hargittai (2020) on big data bias. Full bibliography in the downloadable resource guide.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CEF0C2F0-52A5-9D77-0FE8-0AD77317AB3D}"/>
              </a:ext>
            </a:extLst>
          </p:cNvPr>
          <p:cNvSpPr/>
          <p:nvPr/>
        </p:nvSpPr>
        <p:spPr>
          <a:xfrm>
            <a:off x="548640" y="484839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All URLs verified April 2026. Full resource guide with additional links available via QR code.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860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Sources &amp; Citations (2/2)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48640" y="731520"/>
            <a:ext cx="1097280" cy="2286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Research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731520" y="123444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Starbird et al.: Misinformation in Crisis (UW)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>
            <a:hlinkClick r:id="rId4"/>
          </p:cNvPr>
          <p:cNvSpPr/>
          <p:nvPr/>
        </p:nvSpPr>
        <p:spPr>
          <a:xfrm>
            <a:off x="5760720" y="123444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sng" strike="noStrike" kern="1200" cap="none" spc="0" normalizeH="0" baseline="0" noProof="0" dirty="0">
                <a:ln>
                  <a:noFill/>
                </a:ln>
                <a:solidFill>
                  <a:srgbClr val="3AA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medium.com/@katestarbird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731520" y="152704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Crowdsourcing Under Data Poisoning Attacks (Springer)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>
            <a:hlinkClick r:id="rId5"/>
          </p:cNvPr>
          <p:cNvSpPr/>
          <p:nvPr/>
        </p:nvSpPr>
        <p:spPr>
          <a:xfrm>
            <a:off x="5760720" y="152704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sng" strike="noStrike" kern="1200" cap="none" spc="0" normalizeH="0" baseline="0" noProof="0" dirty="0">
                <a:ln>
                  <a:noFill/>
                </a:ln>
                <a:solidFill>
                  <a:srgbClr val="3AA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link.springer.com/.../978-3-030-49669-2_18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31520" y="181965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Spatial Biases in Crowdsourced Data (ScienceDirect)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>
            <a:hlinkClick r:id="rId6"/>
          </p:cNvPr>
          <p:cNvSpPr/>
          <p:nvPr/>
        </p:nvSpPr>
        <p:spPr>
          <a:xfrm>
            <a:off x="5760720" y="181965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sng" strike="noStrike" kern="1200" cap="none" spc="0" normalizeH="0" baseline="0" noProof="0" dirty="0">
                <a:ln>
                  <a:noFill/>
                </a:ln>
                <a:solidFill>
                  <a:srgbClr val="3AA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sciencedirect.com/.../S0198971520302477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31520" y="211226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Collective InfoSec in Hong Kong Protests (USENIX)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>
            <a:hlinkClick r:id="rId7"/>
          </p:cNvPr>
          <p:cNvSpPr/>
          <p:nvPr/>
        </p:nvSpPr>
        <p:spPr>
          <a:xfrm>
            <a:off x="5760720" y="211226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sng" strike="noStrike" kern="1200" cap="none" spc="0" normalizeH="0" baseline="0" noProof="0" dirty="0">
                <a:ln>
                  <a:noFill/>
                </a:ln>
                <a:solidFill>
                  <a:srgbClr val="3AA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usenix.org/.../albrecht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48640" y="254203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Resources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31520" y="286207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Bellingcat Online Investigation Toolkit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>
            <a:hlinkClick r:id="rId8"/>
          </p:cNvPr>
          <p:cNvSpPr/>
          <p:nvPr/>
        </p:nvSpPr>
        <p:spPr>
          <a:xfrm>
            <a:off x="5760720" y="286207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sng" strike="noStrike" kern="1200" cap="none" spc="0" normalizeH="0" baseline="0" noProof="0" dirty="0">
                <a:ln>
                  <a:noFill/>
                </a:ln>
                <a:solidFill>
                  <a:srgbClr val="3AA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bellingcat.gitbook.io/toolkit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31520" y="31546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awesome-osint: Curated OSINT Tools List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5">
            <a:hlinkClick r:id="rId9"/>
          </p:cNvPr>
          <p:cNvSpPr/>
          <p:nvPr/>
        </p:nvSpPr>
        <p:spPr>
          <a:xfrm>
            <a:off x="5760720" y="315468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sng" strike="noStrike" kern="1200" cap="none" spc="0" normalizeH="0" baseline="0" noProof="0" dirty="0">
                <a:ln>
                  <a:noFill/>
                </a:ln>
                <a:solidFill>
                  <a:srgbClr val="3AA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github.com/jivoi/awesome-osint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31520" y="344728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Ushahidi Platform (GitHub)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>
            <a:hlinkClick r:id="rId10"/>
          </p:cNvPr>
          <p:cNvSpPr/>
          <p:nvPr/>
        </p:nvSpPr>
        <p:spPr>
          <a:xfrm>
            <a:off x="5760720" y="344728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sng" strike="noStrike" kern="1200" cap="none" spc="0" normalizeH="0" baseline="0" noProof="0" dirty="0">
                <a:ln>
                  <a:noFill/>
                </a:ln>
                <a:solidFill>
                  <a:srgbClr val="3AA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github.com/ushahidi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31520" y="373989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SecureDrop: Whistleblower Submission System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9">
            <a:hlinkClick r:id="rId11"/>
          </p:cNvPr>
          <p:cNvSpPr/>
          <p:nvPr/>
        </p:nvSpPr>
        <p:spPr>
          <a:xfrm>
            <a:off x="5760720" y="373989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sng" strike="noStrike" kern="1200" cap="none" spc="0" normalizeH="0" baseline="0" noProof="0" dirty="0">
                <a:ln>
                  <a:noFill/>
                </a:ln>
                <a:solidFill>
                  <a:srgbClr val="3AA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securedrop.org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731520" y="403250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EFF Surveillance Self-Defense Guide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1">
            <a:hlinkClick r:id="rId12"/>
          </p:cNvPr>
          <p:cNvSpPr/>
          <p:nvPr/>
        </p:nvSpPr>
        <p:spPr>
          <a:xfrm>
            <a:off x="5760720" y="403250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sng" strike="noStrike" kern="1200" cap="none" spc="0" normalizeH="0" baseline="0" noProof="0" dirty="0">
                <a:ln>
                  <a:noFill/>
                </a:ln>
                <a:solidFill>
                  <a:srgbClr val="3AA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ssd.eff.org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548640" y="484839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All URLs verified April 2026. Full resource guide with additional links available via QR code.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2837</TotalTime>
  <Words>2324</Words>
  <Application>Microsoft Office PowerPoint</Application>
  <PresentationFormat>On-screen Show (16:9)</PresentationFormat>
  <Paragraphs>317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Crowd-Sourced Truth</dc:title>
  <dc:subject>PptxGenJS Presentation</dc:subject>
  <dc:creator>John Googin</dc:creator>
  <cp:lastModifiedBy>John Hogue</cp:lastModifiedBy>
  <cp:revision>8</cp:revision>
  <cp:lastPrinted>2026-04-15T01:23:36Z</cp:lastPrinted>
  <dcterms:created xsi:type="dcterms:W3CDTF">2026-04-14T19:50:02Z</dcterms:created>
  <dcterms:modified xsi:type="dcterms:W3CDTF">2026-05-13T23:11:26Z</dcterms:modified>
</cp:coreProperties>
</file>